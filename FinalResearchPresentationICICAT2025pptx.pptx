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Inter Ligh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1090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oopkunchukuttan/indic_nlp_librar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us.nlpl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605830"/>
            <a:ext cx="16303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Efficient Few-Shot Gujarati to English Machine Translation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41" y="4491190"/>
            <a:ext cx="14958117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using Quantized LLaMA Models and LoRA Fine-Tuning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567953"/>
            <a:ext cx="16303523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Keshav Agarwal, Nitin Singh, Basab Nath, Satyam Jha, Krishna Kant Pandey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340526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Bennett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07792" y="2217391"/>
            <a:ext cx="2872264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Outline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603727"/>
            <a:ext cx="16303523" cy="475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Architecture &amp; Workflow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Results and Evaluation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  <a:p>
            <a:pPr marL="723895" lvl="1" indent="-361947" algn="l">
              <a:lnSpc>
                <a:spcPts val="4772"/>
              </a:lnSpc>
              <a:buAutoNum type="arabicPeriod"/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94944" y="990600"/>
            <a:ext cx="4898112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613006"/>
            <a:ext cx="16303523" cy="295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Machine Translation (MT) enables communication across languages.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Gujarati is a low-resource language with limited parallel datasets.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 Language Models (LLMs) like LLaMA show strong multilingual capabilities.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Challenge: Fine-tuning LLMs requires high computational resources.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Objective: Build an efficient Gujarati-to-English translation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310009" y="990600"/>
            <a:ext cx="7667983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26757"/>
            <a:ext cx="16303523" cy="555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challenges in building an efficient Gujarati-to-English translation system: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299330"/>
            <a:ext cx="16303523" cy="235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Scarcity of Gujarati-English parallel corpora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 memory and compute requirements of large models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Difficulty handling low-resource Indic languages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Need for parameter-efficient fine-tuning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106471" y="952500"/>
            <a:ext cx="8075057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Literature 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5777" y="2412856"/>
            <a:ext cx="16303523" cy="535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Transformer architecture, introduced by Vaswani et al., established the foundation for modern sequence-to-sequence models.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mBART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IndicTrans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improved multilingual translation performance for low-resource languages.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LLaMA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models provide efficient transformer-based architectures suitable for adaptation and fine-tuning.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LoRA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QLoRA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significantly reduce the computational cost of parameter-efficient fine-tuning.</a:t>
            </a:r>
          </a:p>
          <a:p>
            <a:pPr marL="723900" lvl="1" indent="-361950" algn="l">
              <a:lnSpc>
                <a:spcPts val="4772"/>
              </a:lnSpc>
              <a:buFont typeface="Arial"/>
              <a:buChar char="•"/>
            </a:pP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Common evaluation metrics include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BLEU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METEOR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chrF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ROUGE-L</a:t>
            </a:r>
            <a:r>
              <a:rPr lang="en-US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54138" y="990600"/>
            <a:ext cx="13295262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and Preprocessing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0" y="3594421"/>
            <a:ext cx="3901230" cy="3098159"/>
            <a:chOff x="0" y="0"/>
            <a:chExt cx="5201641" cy="4130878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5150866" cy="4080129"/>
            </a:xfrm>
            <a:custGeom>
              <a:avLst/>
              <a:gdLst/>
              <a:ahLst/>
              <a:cxnLst/>
              <a:rect l="l" t="t" r="r" b="b"/>
              <a:pathLst>
                <a:path w="5150866" h="4080129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906391" y="0"/>
                  </a:lnTo>
                  <a:cubicBezTo>
                    <a:pt x="5041392" y="0"/>
                    <a:pt x="5150866" y="109220"/>
                    <a:pt x="5150866" y="243840"/>
                  </a:cubicBezTo>
                  <a:lnTo>
                    <a:pt x="5150866" y="3836289"/>
                  </a:lnTo>
                  <a:cubicBezTo>
                    <a:pt x="5150866" y="3970909"/>
                    <a:pt x="5041392" y="4080129"/>
                    <a:pt x="4906391" y="4080129"/>
                  </a:cubicBezTo>
                  <a:lnTo>
                    <a:pt x="244475" y="4080129"/>
                  </a:lnTo>
                  <a:cubicBezTo>
                    <a:pt x="109474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201666" cy="4130929"/>
            </a:xfrm>
            <a:custGeom>
              <a:avLst/>
              <a:gdLst/>
              <a:ahLst/>
              <a:cxnLst/>
              <a:rect l="l" t="t" r="r" b="b"/>
              <a:pathLst>
                <a:path w="5201666" h="4130929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931791" y="0"/>
                  </a:lnTo>
                  <a:lnTo>
                    <a:pt x="4931791" y="25400"/>
                  </a:lnTo>
                  <a:lnTo>
                    <a:pt x="4931791" y="0"/>
                  </a:lnTo>
                  <a:cubicBezTo>
                    <a:pt x="5080762" y="0"/>
                    <a:pt x="5201666" y="120523"/>
                    <a:pt x="5201666" y="269240"/>
                  </a:cubicBezTo>
                  <a:lnTo>
                    <a:pt x="5176266" y="269240"/>
                  </a:lnTo>
                  <a:lnTo>
                    <a:pt x="5201666" y="269240"/>
                  </a:lnTo>
                  <a:lnTo>
                    <a:pt x="5201666" y="3861689"/>
                  </a:lnTo>
                  <a:lnTo>
                    <a:pt x="5176266" y="3861689"/>
                  </a:lnTo>
                  <a:lnTo>
                    <a:pt x="5201666" y="3861689"/>
                  </a:lnTo>
                  <a:cubicBezTo>
                    <a:pt x="5201666" y="4010406"/>
                    <a:pt x="5080762" y="4130929"/>
                    <a:pt x="4931791" y="4130929"/>
                  </a:cubicBezTo>
                  <a:lnTo>
                    <a:pt x="4931791" y="4105529"/>
                  </a:lnTo>
                  <a:lnTo>
                    <a:pt x="4931791" y="4130929"/>
                  </a:lnTo>
                  <a:lnTo>
                    <a:pt x="269875" y="4130929"/>
                  </a:lnTo>
                  <a:lnTo>
                    <a:pt x="269875" y="4105529"/>
                  </a:lnTo>
                  <a:lnTo>
                    <a:pt x="269875" y="4130929"/>
                  </a:lnTo>
                  <a:cubicBezTo>
                    <a:pt x="120904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844" y="4080129"/>
                    <a:pt x="269875" y="4080129"/>
                  </a:cubicBezTo>
                  <a:lnTo>
                    <a:pt x="4931791" y="4080129"/>
                  </a:lnTo>
                  <a:cubicBezTo>
                    <a:pt x="5052822" y="4080129"/>
                    <a:pt x="5150866" y="3982212"/>
                    <a:pt x="5150866" y="3861689"/>
                  </a:cubicBezTo>
                  <a:lnTo>
                    <a:pt x="5150866" y="269240"/>
                  </a:lnTo>
                  <a:cubicBezTo>
                    <a:pt x="5150866" y="148717"/>
                    <a:pt x="5052822" y="50800"/>
                    <a:pt x="4931791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3613471"/>
            <a:ext cx="152400" cy="3060059"/>
            <a:chOff x="0" y="0"/>
            <a:chExt cx="203200" cy="40800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02712" y="3925557"/>
            <a:ext cx="1424345" cy="46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2712" y="4462386"/>
            <a:ext cx="3105598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Gujarati-English parallel sentence dataset used.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194402" y="3594421"/>
            <a:ext cx="3901383" cy="3098159"/>
            <a:chOff x="0" y="0"/>
            <a:chExt cx="5201844" cy="4130878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5151120" cy="4080129"/>
            </a:xfrm>
            <a:custGeom>
              <a:avLst/>
              <a:gdLst/>
              <a:ahLst/>
              <a:cxnLst/>
              <a:rect l="l" t="t" r="r" b="b"/>
              <a:pathLst>
                <a:path w="5151120" h="4080129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906645" y="0"/>
                  </a:lnTo>
                  <a:cubicBezTo>
                    <a:pt x="5041646" y="0"/>
                    <a:pt x="5151120" y="109220"/>
                    <a:pt x="5151120" y="243840"/>
                  </a:cubicBezTo>
                  <a:lnTo>
                    <a:pt x="5151120" y="3836289"/>
                  </a:lnTo>
                  <a:cubicBezTo>
                    <a:pt x="5151120" y="3970909"/>
                    <a:pt x="5041646" y="4080129"/>
                    <a:pt x="4906645" y="4080129"/>
                  </a:cubicBezTo>
                  <a:lnTo>
                    <a:pt x="244475" y="4080129"/>
                  </a:lnTo>
                  <a:cubicBezTo>
                    <a:pt x="109474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201920" cy="4130929"/>
            </a:xfrm>
            <a:custGeom>
              <a:avLst/>
              <a:gdLst/>
              <a:ahLst/>
              <a:cxnLst/>
              <a:rect l="l" t="t" r="r" b="b"/>
              <a:pathLst>
                <a:path w="5201920" h="4130929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932045" y="0"/>
                  </a:lnTo>
                  <a:lnTo>
                    <a:pt x="4932045" y="25400"/>
                  </a:lnTo>
                  <a:lnTo>
                    <a:pt x="4932045" y="0"/>
                  </a:lnTo>
                  <a:cubicBezTo>
                    <a:pt x="5081016" y="0"/>
                    <a:pt x="5201920" y="120523"/>
                    <a:pt x="5201920" y="269240"/>
                  </a:cubicBezTo>
                  <a:lnTo>
                    <a:pt x="5176520" y="269240"/>
                  </a:lnTo>
                  <a:lnTo>
                    <a:pt x="5201920" y="269240"/>
                  </a:lnTo>
                  <a:lnTo>
                    <a:pt x="5201920" y="3861689"/>
                  </a:lnTo>
                  <a:lnTo>
                    <a:pt x="5176520" y="3861689"/>
                  </a:lnTo>
                  <a:lnTo>
                    <a:pt x="5201920" y="3861689"/>
                  </a:lnTo>
                  <a:cubicBezTo>
                    <a:pt x="5201920" y="4010406"/>
                    <a:pt x="5081016" y="4130929"/>
                    <a:pt x="4932045" y="4130929"/>
                  </a:cubicBezTo>
                  <a:lnTo>
                    <a:pt x="4932045" y="4105529"/>
                  </a:lnTo>
                  <a:lnTo>
                    <a:pt x="4932045" y="4130929"/>
                  </a:lnTo>
                  <a:lnTo>
                    <a:pt x="269875" y="4130929"/>
                  </a:lnTo>
                  <a:lnTo>
                    <a:pt x="269875" y="4105529"/>
                  </a:lnTo>
                  <a:lnTo>
                    <a:pt x="269875" y="4130929"/>
                  </a:lnTo>
                  <a:cubicBezTo>
                    <a:pt x="120904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844" y="4080129"/>
                    <a:pt x="269875" y="4080129"/>
                  </a:cubicBezTo>
                  <a:lnTo>
                    <a:pt x="4932045" y="4080129"/>
                  </a:lnTo>
                  <a:cubicBezTo>
                    <a:pt x="5053076" y="4080129"/>
                    <a:pt x="5151120" y="3982212"/>
                    <a:pt x="5151120" y="3861689"/>
                  </a:cubicBezTo>
                  <a:lnTo>
                    <a:pt x="5151120" y="269240"/>
                  </a:lnTo>
                  <a:cubicBezTo>
                    <a:pt x="5151120" y="148717"/>
                    <a:pt x="5053076" y="50800"/>
                    <a:pt x="4932045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175352" y="3613471"/>
            <a:ext cx="152400" cy="3060059"/>
            <a:chOff x="0" y="0"/>
            <a:chExt cx="203200" cy="40800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649363" y="3925557"/>
            <a:ext cx="2681049" cy="46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49363" y="4462386"/>
            <a:ext cx="310575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preprocessing included cleaning and normalization.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41196" y="3594421"/>
            <a:ext cx="3901383" cy="3098159"/>
            <a:chOff x="0" y="0"/>
            <a:chExt cx="5201844" cy="4130878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5151120" cy="4080129"/>
            </a:xfrm>
            <a:custGeom>
              <a:avLst/>
              <a:gdLst/>
              <a:ahLst/>
              <a:cxnLst/>
              <a:rect l="l" t="t" r="r" b="b"/>
              <a:pathLst>
                <a:path w="5151120" h="4080129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906645" y="0"/>
                  </a:lnTo>
                  <a:cubicBezTo>
                    <a:pt x="5041646" y="0"/>
                    <a:pt x="5151120" y="109220"/>
                    <a:pt x="5151120" y="243840"/>
                  </a:cubicBezTo>
                  <a:lnTo>
                    <a:pt x="5151120" y="3836289"/>
                  </a:lnTo>
                  <a:cubicBezTo>
                    <a:pt x="5151120" y="3970909"/>
                    <a:pt x="5041646" y="4080129"/>
                    <a:pt x="4906645" y="4080129"/>
                  </a:cubicBezTo>
                  <a:lnTo>
                    <a:pt x="244475" y="4080129"/>
                  </a:lnTo>
                  <a:cubicBezTo>
                    <a:pt x="109474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5201920" cy="4130929"/>
            </a:xfrm>
            <a:custGeom>
              <a:avLst/>
              <a:gdLst/>
              <a:ahLst/>
              <a:cxnLst/>
              <a:rect l="l" t="t" r="r" b="b"/>
              <a:pathLst>
                <a:path w="5201920" h="4130929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932045" y="0"/>
                  </a:lnTo>
                  <a:lnTo>
                    <a:pt x="4932045" y="25400"/>
                  </a:lnTo>
                  <a:lnTo>
                    <a:pt x="4932045" y="0"/>
                  </a:lnTo>
                  <a:cubicBezTo>
                    <a:pt x="5081016" y="0"/>
                    <a:pt x="5201920" y="120523"/>
                    <a:pt x="5201920" y="269240"/>
                  </a:cubicBezTo>
                  <a:lnTo>
                    <a:pt x="5176520" y="269240"/>
                  </a:lnTo>
                  <a:lnTo>
                    <a:pt x="5201920" y="269240"/>
                  </a:lnTo>
                  <a:lnTo>
                    <a:pt x="5201920" y="3861689"/>
                  </a:lnTo>
                  <a:lnTo>
                    <a:pt x="5176520" y="3861689"/>
                  </a:lnTo>
                  <a:lnTo>
                    <a:pt x="5201920" y="3861689"/>
                  </a:lnTo>
                  <a:cubicBezTo>
                    <a:pt x="5201920" y="4010406"/>
                    <a:pt x="5081016" y="4130929"/>
                    <a:pt x="4932045" y="4130929"/>
                  </a:cubicBezTo>
                  <a:lnTo>
                    <a:pt x="4932045" y="4105529"/>
                  </a:lnTo>
                  <a:lnTo>
                    <a:pt x="4932045" y="4130929"/>
                  </a:lnTo>
                  <a:lnTo>
                    <a:pt x="269875" y="4130929"/>
                  </a:lnTo>
                  <a:lnTo>
                    <a:pt x="269875" y="4105529"/>
                  </a:lnTo>
                  <a:lnTo>
                    <a:pt x="269875" y="4130929"/>
                  </a:lnTo>
                  <a:cubicBezTo>
                    <a:pt x="120904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844" y="4080129"/>
                    <a:pt x="269875" y="4080129"/>
                  </a:cubicBezTo>
                  <a:lnTo>
                    <a:pt x="4932045" y="4080129"/>
                  </a:lnTo>
                  <a:cubicBezTo>
                    <a:pt x="5053076" y="4080129"/>
                    <a:pt x="5151120" y="3982212"/>
                    <a:pt x="5151120" y="3861689"/>
                  </a:cubicBezTo>
                  <a:lnTo>
                    <a:pt x="5151120" y="269240"/>
                  </a:lnTo>
                  <a:cubicBezTo>
                    <a:pt x="5151120" y="148717"/>
                    <a:pt x="5053076" y="50800"/>
                    <a:pt x="4932045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322146" y="3613471"/>
            <a:ext cx="152400" cy="3060059"/>
            <a:chOff x="0" y="0"/>
            <a:chExt cx="203200" cy="40800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796166" y="3925557"/>
            <a:ext cx="3105749" cy="463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3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Prompt Format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6167" y="4462386"/>
            <a:ext cx="310575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Input-output pairs formatted for few-shot prompting.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87991" y="3594421"/>
            <a:ext cx="3901383" cy="3098159"/>
            <a:chOff x="0" y="0"/>
            <a:chExt cx="5201844" cy="4130878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5151120" cy="4080129"/>
            </a:xfrm>
            <a:custGeom>
              <a:avLst/>
              <a:gdLst/>
              <a:ahLst/>
              <a:cxnLst/>
              <a:rect l="l" t="t" r="r" b="b"/>
              <a:pathLst>
                <a:path w="5151120" h="4080129">
                  <a:moveTo>
                    <a:pt x="0" y="243840"/>
                  </a:moveTo>
                  <a:cubicBezTo>
                    <a:pt x="0" y="109220"/>
                    <a:pt x="109474" y="0"/>
                    <a:pt x="244475" y="0"/>
                  </a:cubicBezTo>
                  <a:lnTo>
                    <a:pt x="4906645" y="0"/>
                  </a:lnTo>
                  <a:cubicBezTo>
                    <a:pt x="5041646" y="0"/>
                    <a:pt x="5151120" y="109220"/>
                    <a:pt x="5151120" y="243840"/>
                  </a:cubicBezTo>
                  <a:lnTo>
                    <a:pt x="5151120" y="3836289"/>
                  </a:lnTo>
                  <a:cubicBezTo>
                    <a:pt x="5151120" y="3970909"/>
                    <a:pt x="5041646" y="4080129"/>
                    <a:pt x="4906645" y="4080129"/>
                  </a:cubicBezTo>
                  <a:lnTo>
                    <a:pt x="244475" y="4080129"/>
                  </a:lnTo>
                  <a:cubicBezTo>
                    <a:pt x="109474" y="4080129"/>
                    <a:pt x="0" y="3970909"/>
                    <a:pt x="0" y="383628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5201920" cy="4130929"/>
            </a:xfrm>
            <a:custGeom>
              <a:avLst/>
              <a:gdLst/>
              <a:ahLst/>
              <a:cxnLst/>
              <a:rect l="l" t="t" r="r" b="b"/>
              <a:pathLst>
                <a:path w="5201920" h="4130929">
                  <a:moveTo>
                    <a:pt x="0" y="269240"/>
                  </a:moveTo>
                  <a:cubicBezTo>
                    <a:pt x="0" y="120523"/>
                    <a:pt x="120904" y="0"/>
                    <a:pt x="269875" y="0"/>
                  </a:cubicBezTo>
                  <a:lnTo>
                    <a:pt x="4932045" y="0"/>
                  </a:lnTo>
                  <a:lnTo>
                    <a:pt x="4932045" y="25400"/>
                  </a:lnTo>
                  <a:lnTo>
                    <a:pt x="4932045" y="0"/>
                  </a:lnTo>
                  <a:cubicBezTo>
                    <a:pt x="5081016" y="0"/>
                    <a:pt x="5201920" y="120523"/>
                    <a:pt x="5201920" y="269240"/>
                  </a:cubicBezTo>
                  <a:lnTo>
                    <a:pt x="5176520" y="269240"/>
                  </a:lnTo>
                  <a:lnTo>
                    <a:pt x="5201920" y="269240"/>
                  </a:lnTo>
                  <a:lnTo>
                    <a:pt x="5201920" y="3861689"/>
                  </a:lnTo>
                  <a:lnTo>
                    <a:pt x="5176520" y="3861689"/>
                  </a:lnTo>
                  <a:lnTo>
                    <a:pt x="5201920" y="3861689"/>
                  </a:lnTo>
                  <a:cubicBezTo>
                    <a:pt x="5201920" y="4010406"/>
                    <a:pt x="5081016" y="4130929"/>
                    <a:pt x="4932045" y="4130929"/>
                  </a:cubicBezTo>
                  <a:lnTo>
                    <a:pt x="4932045" y="4105529"/>
                  </a:lnTo>
                  <a:lnTo>
                    <a:pt x="4932045" y="4130929"/>
                  </a:lnTo>
                  <a:lnTo>
                    <a:pt x="269875" y="4130929"/>
                  </a:lnTo>
                  <a:lnTo>
                    <a:pt x="269875" y="4105529"/>
                  </a:lnTo>
                  <a:lnTo>
                    <a:pt x="269875" y="4130929"/>
                  </a:lnTo>
                  <a:cubicBezTo>
                    <a:pt x="120904" y="4130929"/>
                    <a:pt x="0" y="4010406"/>
                    <a:pt x="0" y="386168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61689"/>
                  </a:lnTo>
                  <a:lnTo>
                    <a:pt x="25400" y="3861689"/>
                  </a:lnTo>
                  <a:lnTo>
                    <a:pt x="50800" y="3861689"/>
                  </a:lnTo>
                  <a:cubicBezTo>
                    <a:pt x="50800" y="3982212"/>
                    <a:pt x="148844" y="4080129"/>
                    <a:pt x="269875" y="4080129"/>
                  </a:cubicBezTo>
                  <a:lnTo>
                    <a:pt x="4932045" y="4080129"/>
                  </a:lnTo>
                  <a:cubicBezTo>
                    <a:pt x="5053076" y="4080129"/>
                    <a:pt x="5151120" y="3982212"/>
                    <a:pt x="5151120" y="3861689"/>
                  </a:cubicBezTo>
                  <a:lnTo>
                    <a:pt x="5151120" y="269240"/>
                  </a:lnTo>
                  <a:cubicBezTo>
                    <a:pt x="5151120" y="148717"/>
                    <a:pt x="5053076" y="50800"/>
                    <a:pt x="4932045" y="50800"/>
                  </a:cubicBezTo>
                  <a:lnTo>
                    <a:pt x="269875" y="50800"/>
                  </a:lnTo>
                  <a:lnTo>
                    <a:pt x="269875" y="25400"/>
                  </a:lnTo>
                  <a:lnTo>
                    <a:pt x="269875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468941" y="3613471"/>
            <a:ext cx="152400" cy="3060059"/>
            <a:chOff x="0" y="0"/>
            <a:chExt cx="203200" cy="40800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4080129"/>
            </a:xfrm>
            <a:custGeom>
              <a:avLst/>
              <a:gdLst/>
              <a:ahLst/>
              <a:cxnLst/>
              <a:rect l="l" t="t" r="r" b="b"/>
              <a:pathLst>
                <a:path w="203200" h="40801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78529"/>
                  </a:lnTo>
                  <a:cubicBezTo>
                    <a:pt x="203200" y="4034663"/>
                    <a:pt x="157734" y="4080129"/>
                    <a:pt x="101600" y="4080129"/>
                  </a:cubicBezTo>
                  <a:cubicBezTo>
                    <a:pt x="45466" y="4080129"/>
                    <a:pt x="0" y="4034663"/>
                    <a:pt x="0" y="397852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3942962" y="3925557"/>
            <a:ext cx="3105750" cy="939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3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Few-Shot 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42962" y="4905299"/>
            <a:ext cx="310575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Few-shot examples provided contextual learning for translation.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626828" y="990600"/>
            <a:ext cx="9317712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Proposed Methodology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106941"/>
            <a:ext cx="567033" cy="479509"/>
            <a:chOff x="0" y="0"/>
            <a:chExt cx="756044" cy="6393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3550739"/>
            <a:ext cx="5245446" cy="38100"/>
            <a:chOff x="0" y="0"/>
            <a:chExt cx="6993928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3749573"/>
            <a:ext cx="4341762" cy="422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Base Model Selection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4295927"/>
            <a:ext cx="5245446" cy="88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Quantized LLaMA architecture was selected as the foundation model.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1206" y="3106941"/>
            <a:ext cx="567033" cy="479509"/>
            <a:chOff x="0" y="0"/>
            <a:chExt cx="756044" cy="6393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1206" y="3550739"/>
            <a:ext cx="5245446" cy="38100"/>
            <a:chOff x="0" y="0"/>
            <a:chExt cx="6993928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521206" y="3749573"/>
            <a:ext cx="4222994" cy="422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 Compression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1206" y="4295927"/>
            <a:ext cx="5245446" cy="134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4-bit and 8-bit quantization reduced memory requirements for efficient training.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50163" y="3106941"/>
            <a:ext cx="567033" cy="479509"/>
            <a:chOff x="0" y="0"/>
            <a:chExt cx="756044" cy="6393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50163" y="3550739"/>
            <a:ext cx="5245446" cy="38100"/>
            <a:chOff x="0" y="0"/>
            <a:chExt cx="6993928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050163" y="3749573"/>
            <a:ext cx="5245446" cy="8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Parameter-Efficient Fine-Tuning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50163" y="4738840"/>
            <a:ext cx="5245446" cy="88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LoRA was applied to adapt the model with minimal trainable parameters.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2238" y="6238580"/>
            <a:ext cx="567033" cy="479509"/>
            <a:chOff x="0" y="0"/>
            <a:chExt cx="756044" cy="63934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2238" y="6682378"/>
            <a:ext cx="8009934" cy="38100"/>
            <a:chOff x="0" y="0"/>
            <a:chExt cx="10679913" cy="50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92238" y="6881222"/>
            <a:ext cx="4494162" cy="422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Few-Shot 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2238" y="7427566"/>
            <a:ext cx="8009934" cy="88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Few-shot examples improved generalization with limited data.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85684" y="6238580"/>
            <a:ext cx="567033" cy="479509"/>
            <a:chOff x="0" y="0"/>
            <a:chExt cx="756044" cy="6393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85684" y="6682378"/>
            <a:ext cx="8009934" cy="38100"/>
            <a:chOff x="0" y="0"/>
            <a:chExt cx="10679913" cy="50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9285684" y="6881222"/>
            <a:ext cx="4887516" cy="422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Training Environment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85684" y="7427566"/>
            <a:ext cx="8009934" cy="88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3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Training was performed using </a:t>
            </a:r>
            <a:r>
              <a:rPr lang="en-US" sz="23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PyTorch</a:t>
            </a:r>
            <a:r>
              <a:rPr lang="en-US" sz="23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Hugging Face Transformers.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583132" y="990600"/>
            <a:ext cx="9121736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167805"/>
            <a:ext cx="567033" cy="479509"/>
            <a:chOff x="0" y="0"/>
            <a:chExt cx="756044" cy="6393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3611613"/>
            <a:ext cx="5245446" cy="38100"/>
            <a:chOff x="0" y="0"/>
            <a:chExt cx="6993928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3810448"/>
            <a:ext cx="5245446" cy="8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 Gujarati sentence dataset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6" y="3167805"/>
            <a:ext cx="567033" cy="479509"/>
            <a:chOff x="0" y="0"/>
            <a:chExt cx="756044" cy="6393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21206" y="3611613"/>
            <a:ext cx="5245446" cy="38100"/>
            <a:chOff x="0" y="0"/>
            <a:chExt cx="6993928" cy="5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521206" y="3810448"/>
            <a:ext cx="5245446" cy="8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preprocessing and normalization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50163" y="3167805"/>
            <a:ext cx="567033" cy="479509"/>
            <a:chOff x="0" y="0"/>
            <a:chExt cx="756044" cy="6393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050163" y="3611613"/>
            <a:ext cx="5245446" cy="38100"/>
            <a:chOff x="0" y="0"/>
            <a:chExt cx="6993928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050163" y="3810448"/>
            <a:ext cx="5140286" cy="44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Load pretrained LLaMA model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2238" y="5211366"/>
            <a:ext cx="567033" cy="479509"/>
            <a:chOff x="0" y="0"/>
            <a:chExt cx="756044" cy="63934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2238" y="5655173"/>
            <a:ext cx="5245446" cy="38100"/>
            <a:chOff x="0" y="0"/>
            <a:chExt cx="6993928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992238" y="5854008"/>
            <a:ext cx="3242905" cy="44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Apply quantization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521206" y="5211366"/>
            <a:ext cx="567033" cy="479509"/>
            <a:chOff x="0" y="0"/>
            <a:chExt cx="756044" cy="63934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05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21206" y="5655173"/>
            <a:ext cx="5245446" cy="38100"/>
            <a:chOff x="0" y="0"/>
            <a:chExt cx="6993928" cy="50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6521206" y="5854008"/>
            <a:ext cx="5245446" cy="89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LoRA fine-tuning with few-shot prompting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050163" y="5211366"/>
            <a:ext cx="567033" cy="479509"/>
            <a:chOff x="0" y="0"/>
            <a:chExt cx="756044" cy="63934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06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050163" y="5655173"/>
            <a:ext cx="5245446" cy="38100"/>
            <a:chOff x="0" y="0"/>
            <a:chExt cx="6993928" cy="50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2050163" y="5854008"/>
            <a:ext cx="4860727" cy="44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Generate English translation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92238" y="7254926"/>
            <a:ext cx="567033" cy="479509"/>
            <a:chOff x="0" y="0"/>
            <a:chExt cx="756044" cy="6393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56048" cy="639348"/>
            </a:xfrm>
            <a:custGeom>
              <a:avLst/>
              <a:gdLst/>
              <a:ahLst/>
              <a:cxnLst/>
              <a:rect l="l" t="t" r="r" b="b"/>
              <a:pathLst>
                <a:path w="756048" h="639348">
                  <a:moveTo>
                    <a:pt x="0" y="0"/>
                  </a:moveTo>
                  <a:lnTo>
                    <a:pt x="756048" y="0"/>
                  </a:lnTo>
                  <a:lnTo>
                    <a:pt x="756048" y="639348"/>
                  </a:lnTo>
                  <a:lnTo>
                    <a:pt x="0" y="639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r="-30180" b="26099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756044" cy="725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59"/>
                </a:lnSpc>
              </a:pPr>
              <a:r>
                <a:rPr lang="en-US" sz="2300">
                  <a:solidFill>
                    <a:srgbClr val="272525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07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92238" y="7698734"/>
            <a:ext cx="16303381" cy="38100"/>
            <a:chOff x="0" y="0"/>
            <a:chExt cx="21737841" cy="50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737828" cy="50800"/>
            </a:xfrm>
            <a:custGeom>
              <a:avLst/>
              <a:gdLst/>
              <a:ahLst/>
              <a:cxnLst/>
              <a:rect l="l" t="t" r="r" b="b"/>
              <a:pathLst>
                <a:path w="21737828" h="50800">
                  <a:moveTo>
                    <a:pt x="0" y="0"/>
                  </a:moveTo>
                  <a:lnTo>
                    <a:pt x="21737828" y="0"/>
                  </a:lnTo>
                  <a:lnTo>
                    <a:pt x="2173782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992238" y="7897568"/>
            <a:ext cx="6615946" cy="44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Evaluate using BLEU and other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5448" y="3287092"/>
            <a:ext cx="3901230" cy="3479749"/>
            <a:chOff x="0" y="0"/>
            <a:chExt cx="5201641" cy="4639666"/>
          </a:xfrm>
        </p:grpSpPr>
        <p:sp>
          <p:nvSpPr>
            <p:cNvPr id="7" name="Freeform 7"/>
            <p:cNvSpPr/>
            <p:nvPr/>
          </p:nvSpPr>
          <p:spPr>
            <a:xfrm>
              <a:off x="25400" y="25400"/>
              <a:ext cx="5150739" cy="4588891"/>
            </a:xfrm>
            <a:custGeom>
              <a:avLst/>
              <a:gdLst/>
              <a:ahLst/>
              <a:cxnLst/>
              <a:rect l="l" t="t" r="r" b="b"/>
              <a:pathLst>
                <a:path w="5150739" h="4588891">
                  <a:moveTo>
                    <a:pt x="0" y="243840"/>
                  </a:moveTo>
                  <a:cubicBezTo>
                    <a:pt x="0" y="109220"/>
                    <a:pt x="109347" y="0"/>
                    <a:pt x="244094" y="0"/>
                  </a:cubicBezTo>
                  <a:lnTo>
                    <a:pt x="4906645" y="0"/>
                  </a:lnTo>
                  <a:cubicBezTo>
                    <a:pt x="5041519" y="0"/>
                    <a:pt x="5150739" y="109220"/>
                    <a:pt x="5150739" y="243840"/>
                  </a:cubicBezTo>
                  <a:lnTo>
                    <a:pt x="5150739" y="4345051"/>
                  </a:lnTo>
                  <a:cubicBezTo>
                    <a:pt x="5150739" y="4479671"/>
                    <a:pt x="5041392" y="4588891"/>
                    <a:pt x="4906645" y="4588891"/>
                  </a:cubicBezTo>
                  <a:lnTo>
                    <a:pt x="244094" y="4588891"/>
                  </a:lnTo>
                  <a:cubicBezTo>
                    <a:pt x="109220" y="4588891"/>
                    <a:pt x="0" y="4479671"/>
                    <a:pt x="0" y="4345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201539" cy="4639691"/>
            </a:xfrm>
            <a:custGeom>
              <a:avLst/>
              <a:gdLst/>
              <a:ahLst/>
              <a:cxnLst/>
              <a:rect l="l" t="t" r="r" b="b"/>
              <a:pathLst>
                <a:path w="5201539" h="463969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932045" y="0"/>
                  </a:lnTo>
                  <a:lnTo>
                    <a:pt x="4932045" y="25400"/>
                  </a:lnTo>
                  <a:lnTo>
                    <a:pt x="4932045" y="0"/>
                  </a:lnTo>
                  <a:cubicBezTo>
                    <a:pt x="5080889" y="0"/>
                    <a:pt x="5201539" y="120523"/>
                    <a:pt x="5201539" y="269240"/>
                  </a:cubicBezTo>
                  <a:lnTo>
                    <a:pt x="5176139" y="269240"/>
                  </a:lnTo>
                  <a:lnTo>
                    <a:pt x="5201539" y="269240"/>
                  </a:lnTo>
                  <a:lnTo>
                    <a:pt x="5201539" y="4370451"/>
                  </a:lnTo>
                  <a:lnTo>
                    <a:pt x="5176139" y="4370451"/>
                  </a:lnTo>
                  <a:lnTo>
                    <a:pt x="5201539" y="4370451"/>
                  </a:lnTo>
                  <a:cubicBezTo>
                    <a:pt x="5201539" y="4519168"/>
                    <a:pt x="5080889" y="4639691"/>
                    <a:pt x="4932045" y="4639691"/>
                  </a:cubicBezTo>
                  <a:lnTo>
                    <a:pt x="4932045" y="4614291"/>
                  </a:lnTo>
                  <a:lnTo>
                    <a:pt x="4932045" y="4639691"/>
                  </a:lnTo>
                  <a:lnTo>
                    <a:pt x="269494" y="4639691"/>
                  </a:lnTo>
                  <a:lnTo>
                    <a:pt x="269494" y="4614291"/>
                  </a:lnTo>
                  <a:lnTo>
                    <a:pt x="269494" y="4639691"/>
                  </a:lnTo>
                  <a:cubicBezTo>
                    <a:pt x="120650" y="4639691"/>
                    <a:pt x="0" y="4519168"/>
                    <a:pt x="0" y="437045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70451"/>
                  </a:lnTo>
                  <a:lnTo>
                    <a:pt x="25400" y="4370451"/>
                  </a:lnTo>
                  <a:lnTo>
                    <a:pt x="50800" y="4370451"/>
                  </a:lnTo>
                  <a:cubicBezTo>
                    <a:pt x="50800" y="4491101"/>
                    <a:pt x="148717" y="4588891"/>
                    <a:pt x="269494" y="4588891"/>
                  </a:cubicBezTo>
                  <a:lnTo>
                    <a:pt x="4932045" y="4588891"/>
                  </a:lnTo>
                  <a:cubicBezTo>
                    <a:pt x="5052822" y="4588891"/>
                    <a:pt x="5150739" y="4491101"/>
                    <a:pt x="5150739" y="4370451"/>
                  </a:cubicBezTo>
                  <a:lnTo>
                    <a:pt x="5150739" y="269240"/>
                  </a:lnTo>
                  <a:cubicBezTo>
                    <a:pt x="5150739" y="148590"/>
                    <a:pt x="5052822" y="50800"/>
                    <a:pt x="4932045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36727" y="3210892"/>
            <a:ext cx="3863130" cy="152400"/>
            <a:chOff x="0" y="0"/>
            <a:chExt cx="5150841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50866" cy="203200"/>
            </a:xfrm>
            <a:custGeom>
              <a:avLst/>
              <a:gdLst/>
              <a:ahLst/>
              <a:cxnLst/>
              <a:rect l="l" t="t" r="r" b="b"/>
              <a:pathLst>
                <a:path w="515086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049266" y="0"/>
                  </a:lnTo>
                  <a:cubicBezTo>
                    <a:pt x="5105400" y="0"/>
                    <a:pt x="5150866" y="45466"/>
                    <a:pt x="5150866" y="101600"/>
                  </a:cubicBezTo>
                  <a:cubicBezTo>
                    <a:pt x="5150866" y="157734"/>
                    <a:pt x="5105400" y="203200"/>
                    <a:pt x="504926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442943" y="2823786"/>
            <a:ext cx="850554" cy="850554"/>
            <a:chOff x="0" y="0"/>
            <a:chExt cx="1134072" cy="1134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083378" y="3363292"/>
            <a:ext cx="3901383" cy="3479749"/>
            <a:chOff x="0" y="0"/>
            <a:chExt cx="5201844" cy="4639666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5150993" cy="4588891"/>
            </a:xfrm>
            <a:custGeom>
              <a:avLst/>
              <a:gdLst/>
              <a:ahLst/>
              <a:cxnLst/>
              <a:rect l="l" t="t" r="r" b="b"/>
              <a:pathLst>
                <a:path w="5150993" h="4588891">
                  <a:moveTo>
                    <a:pt x="0" y="243840"/>
                  </a:moveTo>
                  <a:cubicBezTo>
                    <a:pt x="0" y="109220"/>
                    <a:pt x="109347" y="0"/>
                    <a:pt x="244094" y="0"/>
                  </a:cubicBezTo>
                  <a:lnTo>
                    <a:pt x="4906899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4345051"/>
                  </a:lnTo>
                  <a:cubicBezTo>
                    <a:pt x="5150993" y="4479671"/>
                    <a:pt x="5041646" y="4588891"/>
                    <a:pt x="4906899" y="4588891"/>
                  </a:cubicBezTo>
                  <a:lnTo>
                    <a:pt x="244094" y="4588891"/>
                  </a:lnTo>
                  <a:cubicBezTo>
                    <a:pt x="109220" y="4588891"/>
                    <a:pt x="0" y="4479671"/>
                    <a:pt x="0" y="4345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5201793" cy="4639691"/>
            </a:xfrm>
            <a:custGeom>
              <a:avLst/>
              <a:gdLst/>
              <a:ahLst/>
              <a:cxnLst/>
              <a:rect l="l" t="t" r="r" b="b"/>
              <a:pathLst>
                <a:path w="5201793" h="463969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932299" y="0"/>
                  </a:lnTo>
                  <a:lnTo>
                    <a:pt x="4932299" y="25400"/>
                  </a:lnTo>
                  <a:lnTo>
                    <a:pt x="4932299" y="0"/>
                  </a:lnTo>
                  <a:cubicBezTo>
                    <a:pt x="5081143" y="0"/>
                    <a:pt x="5201793" y="120523"/>
                    <a:pt x="5201793" y="269240"/>
                  </a:cubicBezTo>
                  <a:lnTo>
                    <a:pt x="5176393" y="269240"/>
                  </a:lnTo>
                  <a:lnTo>
                    <a:pt x="5201793" y="269240"/>
                  </a:lnTo>
                  <a:lnTo>
                    <a:pt x="5201793" y="4370451"/>
                  </a:lnTo>
                  <a:lnTo>
                    <a:pt x="5176393" y="4370451"/>
                  </a:lnTo>
                  <a:lnTo>
                    <a:pt x="5201793" y="4370451"/>
                  </a:lnTo>
                  <a:cubicBezTo>
                    <a:pt x="5201793" y="4519168"/>
                    <a:pt x="5081143" y="4639691"/>
                    <a:pt x="4932299" y="4639691"/>
                  </a:cubicBezTo>
                  <a:lnTo>
                    <a:pt x="4932299" y="4614291"/>
                  </a:lnTo>
                  <a:lnTo>
                    <a:pt x="4932299" y="4639691"/>
                  </a:lnTo>
                  <a:lnTo>
                    <a:pt x="269494" y="4639691"/>
                  </a:lnTo>
                  <a:lnTo>
                    <a:pt x="269494" y="4614291"/>
                  </a:lnTo>
                  <a:lnTo>
                    <a:pt x="269494" y="4639691"/>
                  </a:lnTo>
                  <a:cubicBezTo>
                    <a:pt x="120650" y="4639691"/>
                    <a:pt x="0" y="4519168"/>
                    <a:pt x="0" y="437045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70451"/>
                  </a:lnTo>
                  <a:lnTo>
                    <a:pt x="25400" y="4370451"/>
                  </a:lnTo>
                  <a:lnTo>
                    <a:pt x="50800" y="4370451"/>
                  </a:lnTo>
                  <a:cubicBezTo>
                    <a:pt x="50800" y="4491101"/>
                    <a:pt x="148717" y="4588891"/>
                    <a:pt x="269494" y="4588891"/>
                  </a:cubicBezTo>
                  <a:lnTo>
                    <a:pt x="4932299" y="4588891"/>
                  </a:lnTo>
                  <a:cubicBezTo>
                    <a:pt x="5053076" y="4588891"/>
                    <a:pt x="5150993" y="4491101"/>
                    <a:pt x="5150993" y="4370451"/>
                  </a:cubicBezTo>
                  <a:lnTo>
                    <a:pt x="5150993" y="269240"/>
                  </a:lnTo>
                  <a:cubicBezTo>
                    <a:pt x="5150993" y="148590"/>
                    <a:pt x="5053076" y="50800"/>
                    <a:pt x="4932299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083378" y="3210892"/>
            <a:ext cx="3863283" cy="152400"/>
            <a:chOff x="0" y="0"/>
            <a:chExt cx="5151044" cy="203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50993" cy="203200"/>
            </a:xfrm>
            <a:custGeom>
              <a:avLst/>
              <a:gdLst/>
              <a:ahLst/>
              <a:cxnLst/>
              <a:rect l="l" t="t" r="r" b="b"/>
              <a:pathLst>
                <a:path w="515099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049393" y="0"/>
                  </a:lnTo>
                  <a:cubicBezTo>
                    <a:pt x="5105527" y="0"/>
                    <a:pt x="5150993" y="45466"/>
                    <a:pt x="5150993" y="101600"/>
                  </a:cubicBezTo>
                  <a:cubicBezTo>
                    <a:pt x="5150993" y="157734"/>
                    <a:pt x="5105527" y="203200"/>
                    <a:pt x="504939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589738" y="2823786"/>
            <a:ext cx="850554" cy="850554"/>
            <a:chOff x="0" y="0"/>
            <a:chExt cx="1134072" cy="11340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211123" y="3229942"/>
            <a:ext cx="3901383" cy="3479749"/>
            <a:chOff x="0" y="0"/>
            <a:chExt cx="5201844" cy="4639666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5150993" cy="4588891"/>
            </a:xfrm>
            <a:custGeom>
              <a:avLst/>
              <a:gdLst/>
              <a:ahLst/>
              <a:cxnLst/>
              <a:rect l="l" t="t" r="r" b="b"/>
              <a:pathLst>
                <a:path w="5150993" h="4588891">
                  <a:moveTo>
                    <a:pt x="0" y="243840"/>
                  </a:moveTo>
                  <a:cubicBezTo>
                    <a:pt x="0" y="109220"/>
                    <a:pt x="109347" y="0"/>
                    <a:pt x="244094" y="0"/>
                  </a:cubicBezTo>
                  <a:lnTo>
                    <a:pt x="4906899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4345051"/>
                  </a:lnTo>
                  <a:cubicBezTo>
                    <a:pt x="5150993" y="4479671"/>
                    <a:pt x="5041646" y="4588891"/>
                    <a:pt x="4906899" y="4588891"/>
                  </a:cubicBezTo>
                  <a:lnTo>
                    <a:pt x="244094" y="4588891"/>
                  </a:lnTo>
                  <a:cubicBezTo>
                    <a:pt x="109220" y="4588891"/>
                    <a:pt x="0" y="4479671"/>
                    <a:pt x="0" y="4345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5201793" cy="4639691"/>
            </a:xfrm>
            <a:custGeom>
              <a:avLst/>
              <a:gdLst/>
              <a:ahLst/>
              <a:cxnLst/>
              <a:rect l="l" t="t" r="r" b="b"/>
              <a:pathLst>
                <a:path w="5201793" h="463969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932299" y="0"/>
                  </a:lnTo>
                  <a:lnTo>
                    <a:pt x="4932299" y="25400"/>
                  </a:lnTo>
                  <a:lnTo>
                    <a:pt x="4932299" y="0"/>
                  </a:lnTo>
                  <a:cubicBezTo>
                    <a:pt x="5081143" y="0"/>
                    <a:pt x="5201793" y="120523"/>
                    <a:pt x="5201793" y="269240"/>
                  </a:cubicBezTo>
                  <a:lnTo>
                    <a:pt x="5176393" y="269240"/>
                  </a:lnTo>
                  <a:lnTo>
                    <a:pt x="5201793" y="269240"/>
                  </a:lnTo>
                  <a:lnTo>
                    <a:pt x="5201793" y="4370451"/>
                  </a:lnTo>
                  <a:lnTo>
                    <a:pt x="5176393" y="4370451"/>
                  </a:lnTo>
                  <a:lnTo>
                    <a:pt x="5201793" y="4370451"/>
                  </a:lnTo>
                  <a:cubicBezTo>
                    <a:pt x="5201793" y="4519168"/>
                    <a:pt x="5081143" y="4639691"/>
                    <a:pt x="4932299" y="4639691"/>
                  </a:cubicBezTo>
                  <a:lnTo>
                    <a:pt x="4932299" y="4614291"/>
                  </a:lnTo>
                  <a:lnTo>
                    <a:pt x="4932299" y="4639691"/>
                  </a:lnTo>
                  <a:lnTo>
                    <a:pt x="269494" y="4639691"/>
                  </a:lnTo>
                  <a:lnTo>
                    <a:pt x="269494" y="4614291"/>
                  </a:lnTo>
                  <a:lnTo>
                    <a:pt x="269494" y="4639691"/>
                  </a:lnTo>
                  <a:cubicBezTo>
                    <a:pt x="120650" y="4639691"/>
                    <a:pt x="0" y="4519168"/>
                    <a:pt x="0" y="437045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70451"/>
                  </a:lnTo>
                  <a:lnTo>
                    <a:pt x="25400" y="4370451"/>
                  </a:lnTo>
                  <a:lnTo>
                    <a:pt x="50800" y="4370451"/>
                  </a:lnTo>
                  <a:cubicBezTo>
                    <a:pt x="50800" y="4491101"/>
                    <a:pt x="148717" y="4588891"/>
                    <a:pt x="269494" y="4588891"/>
                  </a:cubicBezTo>
                  <a:lnTo>
                    <a:pt x="4932299" y="4588891"/>
                  </a:lnTo>
                  <a:cubicBezTo>
                    <a:pt x="5053076" y="4588891"/>
                    <a:pt x="5150993" y="4491101"/>
                    <a:pt x="5150993" y="4370451"/>
                  </a:cubicBezTo>
                  <a:lnTo>
                    <a:pt x="5150993" y="269240"/>
                  </a:lnTo>
                  <a:cubicBezTo>
                    <a:pt x="5150993" y="148590"/>
                    <a:pt x="5053076" y="50800"/>
                    <a:pt x="4932299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230173" y="3210892"/>
            <a:ext cx="3863283" cy="152400"/>
            <a:chOff x="0" y="0"/>
            <a:chExt cx="5151044" cy="203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50993" cy="203200"/>
            </a:xfrm>
            <a:custGeom>
              <a:avLst/>
              <a:gdLst/>
              <a:ahLst/>
              <a:cxnLst/>
              <a:rect l="l" t="t" r="r" b="b"/>
              <a:pathLst>
                <a:path w="515099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049393" y="0"/>
                  </a:lnTo>
                  <a:cubicBezTo>
                    <a:pt x="5105527" y="0"/>
                    <a:pt x="5150993" y="45466"/>
                    <a:pt x="5150993" y="101600"/>
                  </a:cubicBezTo>
                  <a:cubicBezTo>
                    <a:pt x="5150993" y="157734"/>
                    <a:pt x="5105527" y="203200"/>
                    <a:pt x="504939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736532" y="2823786"/>
            <a:ext cx="850554" cy="850554"/>
            <a:chOff x="0" y="0"/>
            <a:chExt cx="1134072" cy="1134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551794" y="4759447"/>
            <a:ext cx="3220050" cy="491576"/>
            <a:chOff x="0" y="0"/>
            <a:chExt cx="4293400" cy="655434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4293362" cy="655447"/>
            </a:xfrm>
            <a:custGeom>
              <a:avLst/>
              <a:gdLst/>
              <a:ahLst/>
              <a:cxnLst/>
              <a:rect l="l" t="t" r="r" b="b"/>
              <a:pathLst>
                <a:path w="4293362" h="655447">
                  <a:moveTo>
                    <a:pt x="0" y="0"/>
                  </a:moveTo>
                  <a:lnTo>
                    <a:pt x="4293362" y="0"/>
                  </a:lnTo>
                  <a:lnTo>
                    <a:pt x="4293362" y="655447"/>
                  </a:lnTo>
                  <a:lnTo>
                    <a:pt x="0" y="655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" b="-238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3357917" y="3229942"/>
            <a:ext cx="3901383" cy="3479749"/>
            <a:chOff x="0" y="0"/>
            <a:chExt cx="5201844" cy="4639666"/>
          </a:xfrm>
        </p:grpSpPr>
        <p:sp>
          <p:nvSpPr>
            <p:cNvPr id="30" name="Freeform 30"/>
            <p:cNvSpPr/>
            <p:nvPr/>
          </p:nvSpPr>
          <p:spPr>
            <a:xfrm>
              <a:off x="25400" y="25400"/>
              <a:ext cx="5150993" cy="4588891"/>
            </a:xfrm>
            <a:custGeom>
              <a:avLst/>
              <a:gdLst/>
              <a:ahLst/>
              <a:cxnLst/>
              <a:rect l="l" t="t" r="r" b="b"/>
              <a:pathLst>
                <a:path w="5150993" h="4588891">
                  <a:moveTo>
                    <a:pt x="0" y="243840"/>
                  </a:moveTo>
                  <a:cubicBezTo>
                    <a:pt x="0" y="109220"/>
                    <a:pt x="109347" y="0"/>
                    <a:pt x="244094" y="0"/>
                  </a:cubicBezTo>
                  <a:lnTo>
                    <a:pt x="4906899" y="0"/>
                  </a:lnTo>
                  <a:cubicBezTo>
                    <a:pt x="5041773" y="0"/>
                    <a:pt x="5150993" y="109220"/>
                    <a:pt x="5150993" y="243840"/>
                  </a:cubicBezTo>
                  <a:lnTo>
                    <a:pt x="5150993" y="4345051"/>
                  </a:lnTo>
                  <a:cubicBezTo>
                    <a:pt x="5150993" y="4479671"/>
                    <a:pt x="5041646" y="4588891"/>
                    <a:pt x="4906899" y="4588891"/>
                  </a:cubicBezTo>
                  <a:lnTo>
                    <a:pt x="244094" y="4588891"/>
                  </a:lnTo>
                  <a:cubicBezTo>
                    <a:pt x="109220" y="4588891"/>
                    <a:pt x="0" y="4479671"/>
                    <a:pt x="0" y="4345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5201793" cy="4639691"/>
            </a:xfrm>
            <a:custGeom>
              <a:avLst/>
              <a:gdLst/>
              <a:ahLst/>
              <a:cxnLst/>
              <a:rect l="l" t="t" r="r" b="b"/>
              <a:pathLst>
                <a:path w="5201793" h="4639691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4932299" y="0"/>
                  </a:lnTo>
                  <a:lnTo>
                    <a:pt x="4932299" y="25400"/>
                  </a:lnTo>
                  <a:lnTo>
                    <a:pt x="4932299" y="0"/>
                  </a:lnTo>
                  <a:cubicBezTo>
                    <a:pt x="5081143" y="0"/>
                    <a:pt x="5201793" y="120523"/>
                    <a:pt x="5201793" y="269240"/>
                  </a:cubicBezTo>
                  <a:lnTo>
                    <a:pt x="5176393" y="269240"/>
                  </a:lnTo>
                  <a:lnTo>
                    <a:pt x="5201793" y="269240"/>
                  </a:lnTo>
                  <a:lnTo>
                    <a:pt x="5201793" y="4370451"/>
                  </a:lnTo>
                  <a:lnTo>
                    <a:pt x="5176393" y="4370451"/>
                  </a:lnTo>
                  <a:lnTo>
                    <a:pt x="5201793" y="4370451"/>
                  </a:lnTo>
                  <a:cubicBezTo>
                    <a:pt x="5201793" y="4519168"/>
                    <a:pt x="5081143" y="4639691"/>
                    <a:pt x="4932299" y="4639691"/>
                  </a:cubicBezTo>
                  <a:lnTo>
                    <a:pt x="4932299" y="4614291"/>
                  </a:lnTo>
                  <a:lnTo>
                    <a:pt x="4932299" y="4639691"/>
                  </a:lnTo>
                  <a:lnTo>
                    <a:pt x="269494" y="4639691"/>
                  </a:lnTo>
                  <a:lnTo>
                    <a:pt x="269494" y="4614291"/>
                  </a:lnTo>
                  <a:lnTo>
                    <a:pt x="269494" y="4639691"/>
                  </a:lnTo>
                  <a:cubicBezTo>
                    <a:pt x="120650" y="4639691"/>
                    <a:pt x="0" y="4519168"/>
                    <a:pt x="0" y="437045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70451"/>
                  </a:lnTo>
                  <a:lnTo>
                    <a:pt x="25400" y="4370451"/>
                  </a:lnTo>
                  <a:lnTo>
                    <a:pt x="50800" y="4370451"/>
                  </a:lnTo>
                  <a:cubicBezTo>
                    <a:pt x="50800" y="4491101"/>
                    <a:pt x="148717" y="4588891"/>
                    <a:pt x="269494" y="4588891"/>
                  </a:cubicBezTo>
                  <a:lnTo>
                    <a:pt x="4932299" y="4588891"/>
                  </a:lnTo>
                  <a:cubicBezTo>
                    <a:pt x="5053076" y="4588891"/>
                    <a:pt x="5150993" y="4491101"/>
                    <a:pt x="5150993" y="4370451"/>
                  </a:cubicBezTo>
                  <a:lnTo>
                    <a:pt x="5150993" y="269240"/>
                  </a:lnTo>
                  <a:cubicBezTo>
                    <a:pt x="5150993" y="148590"/>
                    <a:pt x="5053076" y="50800"/>
                    <a:pt x="4932299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376967" y="3210892"/>
            <a:ext cx="3863283" cy="152400"/>
            <a:chOff x="0" y="0"/>
            <a:chExt cx="5151044" cy="203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50993" cy="203200"/>
            </a:xfrm>
            <a:custGeom>
              <a:avLst/>
              <a:gdLst/>
              <a:ahLst/>
              <a:cxnLst/>
              <a:rect l="l" t="t" r="r" b="b"/>
              <a:pathLst>
                <a:path w="515099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049393" y="0"/>
                  </a:lnTo>
                  <a:cubicBezTo>
                    <a:pt x="5105527" y="0"/>
                    <a:pt x="5150993" y="45466"/>
                    <a:pt x="5150993" y="101600"/>
                  </a:cubicBezTo>
                  <a:cubicBezTo>
                    <a:pt x="5150993" y="157734"/>
                    <a:pt x="5105527" y="203200"/>
                    <a:pt x="504939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4883336" y="2823786"/>
            <a:ext cx="850554" cy="850554"/>
            <a:chOff x="0" y="0"/>
            <a:chExt cx="1134072" cy="1134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698588" y="4759447"/>
            <a:ext cx="3220050" cy="491576"/>
            <a:chOff x="0" y="0"/>
            <a:chExt cx="4293400" cy="655434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4293362" cy="655447"/>
            </a:xfrm>
            <a:custGeom>
              <a:avLst/>
              <a:gdLst/>
              <a:ahLst/>
              <a:cxnLst/>
              <a:rect l="l" t="t" r="r" b="b"/>
              <a:pathLst>
                <a:path w="4293362" h="655447">
                  <a:moveTo>
                    <a:pt x="0" y="0"/>
                  </a:moveTo>
                  <a:lnTo>
                    <a:pt x="4293362" y="0"/>
                  </a:lnTo>
                  <a:lnTo>
                    <a:pt x="4293362" y="655447"/>
                  </a:lnTo>
                  <a:lnTo>
                    <a:pt x="0" y="655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8" b="-238"/>
              </a:stretch>
            </a:blipFill>
          </p:spPr>
        </p:sp>
      </p:grpSp>
      <p:sp>
        <p:nvSpPr>
          <p:cNvPr id="38" name="Freeform 38"/>
          <p:cNvSpPr/>
          <p:nvPr/>
        </p:nvSpPr>
        <p:spPr>
          <a:xfrm>
            <a:off x="1258338" y="5143500"/>
            <a:ext cx="2608704" cy="646405"/>
          </a:xfrm>
          <a:custGeom>
            <a:avLst/>
            <a:gdLst/>
            <a:ahLst/>
            <a:cxnLst/>
            <a:rect l="l" t="t" r="r" b="b"/>
            <a:pathLst>
              <a:path w="2608704" h="646405">
                <a:moveTo>
                  <a:pt x="0" y="0"/>
                </a:moveTo>
                <a:lnTo>
                  <a:pt x="2608704" y="0"/>
                </a:lnTo>
                <a:lnTo>
                  <a:pt x="2608704" y="646405"/>
                </a:lnTo>
                <a:lnTo>
                  <a:pt x="0" y="646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5547756" y="5397211"/>
            <a:ext cx="2593846" cy="1266479"/>
          </a:xfrm>
          <a:custGeom>
            <a:avLst/>
            <a:gdLst/>
            <a:ahLst/>
            <a:cxnLst/>
            <a:rect l="l" t="t" r="r" b="b"/>
            <a:pathLst>
              <a:path w="2593846" h="1266479">
                <a:moveTo>
                  <a:pt x="0" y="0"/>
                </a:moveTo>
                <a:lnTo>
                  <a:pt x="2593846" y="0"/>
                </a:lnTo>
                <a:lnTo>
                  <a:pt x="2593846" y="1266479"/>
                </a:lnTo>
                <a:lnTo>
                  <a:pt x="0" y="1266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5093969" y="1182341"/>
            <a:ext cx="7743408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Equations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8338" y="3948184"/>
            <a:ext cx="321989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Translation Objective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404990" y="3948184"/>
            <a:ext cx="32200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Attention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51794" y="3948184"/>
            <a:ext cx="32200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Quantization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98588" y="3948184"/>
            <a:ext cx="32200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LoRA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6727" y="6923861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BLEU evaluates translation quality using n-gram overlap.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67966" y="4711822"/>
            <a:ext cx="2753426" cy="39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Attention (Q,K,V) =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36807" y="498764"/>
            <a:ext cx="8855393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Experimental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2785" y="2256526"/>
            <a:ext cx="4916691" cy="3745706"/>
            <a:chOff x="0" y="0"/>
            <a:chExt cx="6555588" cy="49942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5613" cy="4994247"/>
            </a:xfrm>
            <a:custGeom>
              <a:avLst/>
              <a:gdLst/>
              <a:ahLst/>
              <a:cxnLst/>
              <a:rect l="l" t="t" r="r" b="b"/>
              <a:pathLst>
                <a:path w="6555613" h="4994247">
                  <a:moveTo>
                    <a:pt x="0" y="177574"/>
                  </a:moveTo>
                  <a:cubicBezTo>
                    <a:pt x="0" y="79553"/>
                    <a:pt x="71120" y="0"/>
                    <a:pt x="158750" y="0"/>
                  </a:cubicBezTo>
                  <a:lnTo>
                    <a:pt x="6396863" y="0"/>
                  </a:lnTo>
                  <a:cubicBezTo>
                    <a:pt x="6484493" y="0"/>
                    <a:pt x="6555613" y="79553"/>
                    <a:pt x="6555613" y="177574"/>
                  </a:cubicBezTo>
                  <a:lnTo>
                    <a:pt x="6555613" y="4816672"/>
                  </a:lnTo>
                  <a:cubicBezTo>
                    <a:pt x="6555613" y="4914693"/>
                    <a:pt x="6484493" y="4994247"/>
                    <a:pt x="6396863" y="4994247"/>
                  </a:cubicBezTo>
                  <a:lnTo>
                    <a:pt x="158750" y="4994247"/>
                  </a:lnTo>
                  <a:cubicBezTo>
                    <a:pt x="71120" y="4994247"/>
                    <a:pt x="0" y="4914693"/>
                    <a:pt x="0" y="4816672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66296" y="2643632"/>
            <a:ext cx="442912" cy="354359"/>
            <a:chOff x="0" y="0"/>
            <a:chExt cx="590550" cy="47247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590550" cy="472440"/>
            </a:xfrm>
            <a:custGeom>
              <a:avLst/>
              <a:gdLst/>
              <a:ahLst/>
              <a:cxnLst/>
              <a:rect l="l" t="t" r="r" b="b"/>
              <a:pathLst>
                <a:path w="590550" h="472440">
                  <a:moveTo>
                    <a:pt x="0" y="0"/>
                  </a:moveTo>
                  <a:lnTo>
                    <a:pt x="590550" y="0"/>
                  </a:lnTo>
                  <a:lnTo>
                    <a:pt x="590550" y="472440"/>
                  </a:lnTo>
                  <a:lnTo>
                    <a:pt x="0" y="472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5" r="-815" b="-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992730" y="260136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Zero-shot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2730" y="3251593"/>
            <a:ext cx="362322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BLEU: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3.43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2730" y="3960311"/>
            <a:ext cx="362322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METEOR: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17.45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2730" y="4669037"/>
            <a:ext cx="362322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TER: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115.39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600744" y="2256526"/>
            <a:ext cx="5086502" cy="3745706"/>
            <a:chOff x="0" y="0"/>
            <a:chExt cx="6782003" cy="49942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81927" cy="4994247"/>
            </a:xfrm>
            <a:custGeom>
              <a:avLst/>
              <a:gdLst/>
              <a:ahLst/>
              <a:cxnLst/>
              <a:rect l="l" t="t" r="r" b="b"/>
              <a:pathLst>
                <a:path w="6781927" h="4994247">
                  <a:moveTo>
                    <a:pt x="0" y="177574"/>
                  </a:moveTo>
                  <a:cubicBezTo>
                    <a:pt x="0" y="79553"/>
                    <a:pt x="71120" y="0"/>
                    <a:pt x="158750" y="0"/>
                  </a:cubicBezTo>
                  <a:lnTo>
                    <a:pt x="6623177" y="0"/>
                  </a:lnTo>
                  <a:cubicBezTo>
                    <a:pt x="6710807" y="0"/>
                    <a:pt x="6781927" y="79553"/>
                    <a:pt x="6781927" y="177574"/>
                  </a:cubicBezTo>
                  <a:lnTo>
                    <a:pt x="6781927" y="4816672"/>
                  </a:lnTo>
                  <a:cubicBezTo>
                    <a:pt x="6781927" y="4914693"/>
                    <a:pt x="6710807" y="4994247"/>
                    <a:pt x="6623177" y="4994247"/>
                  </a:cubicBezTo>
                  <a:lnTo>
                    <a:pt x="158750" y="4994247"/>
                  </a:lnTo>
                  <a:cubicBezTo>
                    <a:pt x="71120" y="4994247"/>
                    <a:pt x="0" y="4914693"/>
                    <a:pt x="0" y="4816672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884265" y="2643632"/>
            <a:ext cx="442912" cy="354359"/>
            <a:chOff x="0" y="0"/>
            <a:chExt cx="590550" cy="47247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590550" cy="472440"/>
            </a:xfrm>
            <a:custGeom>
              <a:avLst/>
              <a:gdLst/>
              <a:ahLst/>
              <a:cxnLst/>
              <a:rect l="l" t="t" r="r" b="b"/>
              <a:pathLst>
                <a:path w="590550" h="472440">
                  <a:moveTo>
                    <a:pt x="0" y="0"/>
                  </a:moveTo>
                  <a:lnTo>
                    <a:pt x="590550" y="0"/>
                  </a:lnTo>
                  <a:lnTo>
                    <a:pt x="590550" y="472440"/>
                  </a:lnTo>
                  <a:lnTo>
                    <a:pt x="0" y="472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5" r="-815" b="-8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7610699" y="260136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Few-shot (3-shot)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10699" y="3251593"/>
            <a:ext cx="379303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BLEU: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13.77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10699" y="3960311"/>
            <a:ext cx="379303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METEOR: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40.10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10699" y="4669037"/>
            <a:ext cx="379303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TER: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90.16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388525" y="2256526"/>
            <a:ext cx="4916691" cy="3745706"/>
            <a:chOff x="0" y="0"/>
            <a:chExt cx="6555588" cy="49942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55613" cy="4994275"/>
            </a:xfrm>
            <a:custGeom>
              <a:avLst/>
              <a:gdLst/>
              <a:ahLst/>
              <a:cxnLst/>
              <a:rect l="l" t="t" r="r" b="b"/>
              <a:pathLst>
                <a:path w="6555613" h="499427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396863" y="0"/>
                  </a:lnTo>
                  <a:cubicBezTo>
                    <a:pt x="6484493" y="0"/>
                    <a:pt x="6555613" y="71120"/>
                    <a:pt x="6555613" y="158750"/>
                  </a:cubicBezTo>
                  <a:lnTo>
                    <a:pt x="6555613" y="4835525"/>
                  </a:lnTo>
                  <a:cubicBezTo>
                    <a:pt x="6555613" y="4923155"/>
                    <a:pt x="6484493" y="4994275"/>
                    <a:pt x="6396863" y="4994275"/>
                  </a:cubicBezTo>
                  <a:lnTo>
                    <a:pt x="158750" y="4994275"/>
                  </a:lnTo>
                  <a:cubicBezTo>
                    <a:pt x="71120" y="4994275"/>
                    <a:pt x="0" y="4923155"/>
                    <a:pt x="0" y="4835525"/>
                  </a:cubicBezTo>
                  <a:close/>
                </a:path>
              </a:pathLst>
            </a:custGeom>
            <a:solidFill>
              <a:srgbClr val="C7C9EA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672046" y="2643632"/>
            <a:ext cx="442912" cy="354359"/>
            <a:chOff x="0" y="0"/>
            <a:chExt cx="590550" cy="472478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590550" cy="472440"/>
            </a:xfrm>
            <a:custGeom>
              <a:avLst/>
              <a:gdLst/>
              <a:ahLst/>
              <a:cxnLst/>
              <a:rect l="l" t="t" r="r" b="b"/>
              <a:pathLst>
                <a:path w="590550" h="472440">
                  <a:moveTo>
                    <a:pt x="0" y="0"/>
                  </a:moveTo>
                  <a:lnTo>
                    <a:pt x="590550" y="0"/>
                  </a:lnTo>
                  <a:lnTo>
                    <a:pt x="590550" y="472440"/>
                  </a:lnTo>
                  <a:lnTo>
                    <a:pt x="0" y="472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5" r="-815" b="-8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3398470" y="260136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98470" y="3251593"/>
            <a:ext cx="3623224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Few-shot significantly improved translation quality, with stronger semantic alignment and fluency.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2785" y="6554387"/>
            <a:ext cx="16303523" cy="147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249" lvl="1" indent="-301625" algn="l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BLEU improved from 3.43 to 13.77.</a:t>
            </a:r>
          </a:p>
          <a:p>
            <a:pPr marL="603249" lvl="1" indent="-301625" algn="l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METEOR improved from 17.45 to 40.10.</a:t>
            </a:r>
          </a:p>
          <a:p>
            <a:pPr marL="603249" lvl="1" indent="-301625" algn="l">
              <a:lnSpc>
                <a:spcPts val="397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TER reduced from 115.39 to 90.16.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022646" y="990600"/>
            <a:ext cx="10836354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Performance Comparison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428356"/>
            <a:ext cx="16313048" cy="4131173"/>
            <a:chOff x="0" y="0"/>
            <a:chExt cx="21750731" cy="55082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655" cy="5508244"/>
            </a:xfrm>
            <a:custGeom>
              <a:avLst/>
              <a:gdLst/>
              <a:ahLst/>
              <a:cxnLst/>
              <a:rect l="l" t="t" r="r" b="b"/>
              <a:pathLst>
                <a:path w="21750655" h="5508244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5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5343144"/>
                  </a:lnTo>
                  <a:lnTo>
                    <a:pt x="21744305" y="5343144"/>
                  </a:lnTo>
                  <a:lnTo>
                    <a:pt x="21750655" y="5343144"/>
                  </a:lnTo>
                  <a:cubicBezTo>
                    <a:pt x="21750655" y="5434330"/>
                    <a:pt x="21676615" y="5508244"/>
                    <a:pt x="21585301" y="5508244"/>
                  </a:cubicBezTo>
                  <a:lnTo>
                    <a:pt x="21585301" y="5501894"/>
                  </a:lnTo>
                  <a:lnTo>
                    <a:pt x="21585301" y="5508244"/>
                  </a:lnTo>
                  <a:lnTo>
                    <a:pt x="165354" y="5508244"/>
                  </a:lnTo>
                  <a:lnTo>
                    <a:pt x="165354" y="5501894"/>
                  </a:lnTo>
                  <a:lnTo>
                    <a:pt x="165354" y="5508244"/>
                  </a:lnTo>
                  <a:cubicBezTo>
                    <a:pt x="74041" y="5508244"/>
                    <a:pt x="0" y="5434330"/>
                    <a:pt x="0" y="534314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43144"/>
                  </a:lnTo>
                  <a:lnTo>
                    <a:pt x="6350" y="5343144"/>
                  </a:lnTo>
                  <a:lnTo>
                    <a:pt x="12700" y="5343144"/>
                  </a:lnTo>
                  <a:cubicBezTo>
                    <a:pt x="12700" y="5427345"/>
                    <a:pt x="81026" y="5495544"/>
                    <a:pt x="165354" y="5495544"/>
                  </a:cubicBezTo>
                  <a:lnTo>
                    <a:pt x="21585301" y="5495544"/>
                  </a:lnTo>
                  <a:cubicBezTo>
                    <a:pt x="21669629" y="5495544"/>
                    <a:pt x="21737955" y="5427345"/>
                    <a:pt x="21737955" y="5343144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30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85580" y="2536550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Metric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1384" y="2536550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Before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2427" y="2536550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After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03478" y="2536550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Change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580" y="3358977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BLEU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1384" y="3358977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3.43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2427" y="3358977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13.77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03478" y="3358977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+10.34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580" y="4181403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chrF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61384" y="4181403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8.53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2427" y="4181403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39.29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03478" y="4181403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+30.76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5580" y="5003830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ROUGE-L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61384" y="5003830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14.01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32427" y="5003830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38.17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03478" y="5003830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+24.16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5580" y="5826247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61384" y="5826247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115.39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2427" y="5826247"/>
            <a:ext cx="3494484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90.16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03478" y="5826247"/>
            <a:ext cx="3499247" cy="46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-25.23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38" y="6768927"/>
            <a:ext cx="16303523" cy="108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Few-shot learning improved translation quality across all reported metrics, with strong gains in BLEU, chrF, and ROUGE-L, and a reduction in 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048583" y="990600"/>
            <a:ext cx="8393421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Qualitative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2713" y="3140793"/>
            <a:ext cx="3901230" cy="4005415"/>
            <a:chOff x="0" y="0"/>
            <a:chExt cx="5201641" cy="5340553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5150866" cy="5289677"/>
            </a:xfrm>
            <a:custGeom>
              <a:avLst/>
              <a:gdLst/>
              <a:ahLst/>
              <a:cxnLst/>
              <a:rect l="l" t="t" r="r" b="b"/>
              <a:pathLst>
                <a:path w="5150866" h="528967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026" y="0"/>
                  </a:lnTo>
                  <a:cubicBezTo>
                    <a:pt x="5041646" y="0"/>
                    <a:pt x="5150866" y="109220"/>
                    <a:pt x="5150866" y="243840"/>
                  </a:cubicBezTo>
                  <a:lnTo>
                    <a:pt x="5150866" y="5045837"/>
                  </a:lnTo>
                  <a:cubicBezTo>
                    <a:pt x="5150866" y="5180584"/>
                    <a:pt x="5041646" y="5289677"/>
                    <a:pt x="4907026" y="5289677"/>
                  </a:cubicBezTo>
                  <a:lnTo>
                    <a:pt x="243840" y="5289677"/>
                  </a:lnTo>
                  <a:cubicBezTo>
                    <a:pt x="109220" y="5289677"/>
                    <a:pt x="0" y="5180457"/>
                    <a:pt x="0" y="50458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201666" cy="5340477"/>
            </a:xfrm>
            <a:custGeom>
              <a:avLst/>
              <a:gdLst/>
              <a:ahLst/>
              <a:cxnLst/>
              <a:rect l="l" t="t" r="r" b="b"/>
              <a:pathLst>
                <a:path w="5201666" h="5340477">
                  <a:moveTo>
                    <a:pt x="0" y="269240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4932426" y="0"/>
                  </a:lnTo>
                  <a:lnTo>
                    <a:pt x="4932426" y="25400"/>
                  </a:lnTo>
                  <a:lnTo>
                    <a:pt x="4932426" y="0"/>
                  </a:lnTo>
                  <a:cubicBezTo>
                    <a:pt x="5081143" y="0"/>
                    <a:pt x="5201666" y="120523"/>
                    <a:pt x="5201666" y="269240"/>
                  </a:cubicBezTo>
                  <a:lnTo>
                    <a:pt x="5176266" y="269240"/>
                  </a:lnTo>
                  <a:lnTo>
                    <a:pt x="5201666" y="269240"/>
                  </a:lnTo>
                  <a:lnTo>
                    <a:pt x="5201666" y="5071237"/>
                  </a:lnTo>
                  <a:lnTo>
                    <a:pt x="5176266" y="5071237"/>
                  </a:lnTo>
                  <a:lnTo>
                    <a:pt x="5201666" y="5071237"/>
                  </a:lnTo>
                  <a:cubicBezTo>
                    <a:pt x="5201666" y="5219954"/>
                    <a:pt x="5081143" y="5340477"/>
                    <a:pt x="4932426" y="5340477"/>
                  </a:cubicBezTo>
                  <a:lnTo>
                    <a:pt x="4932426" y="5315077"/>
                  </a:lnTo>
                  <a:lnTo>
                    <a:pt x="4932426" y="5340477"/>
                  </a:lnTo>
                  <a:lnTo>
                    <a:pt x="269240" y="5340477"/>
                  </a:lnTo>
                  <a:lnTo>
                    <a:pt x="269240" y="5315077"/>
                  </a:lnTo>
                  <a:lnTo>
                    <a:pt x="269240" y="5340477"/>
                  </a:lnTo>
                  <a:cubicBezTo>
                    <a:pt x="120523" y="5340477"/>
                    <a:pt x="0" y="5219954"/>
                    <a:pt x="0" y="507123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71237"/>
                  </a:lnTo>
                  <a:lnTo>
                    <a:pt x="25400" y="5071237"/>
                  </a:lnTo>
                  <a:lnTo>
                    <a:pt x="50800" y="5071237"/>
                  </a:lnTo>
                  <a:cubicBezTo>
                    <a:pt x="50800" y="5191887"/>
                    <a:pt x="148590" y="5289677"/>
                    <a:pt x="269240" y="5289677"/>
                  </a:cubicBezTo>
                  <a:lnTo>
                    <a:pt x="4932426" y="5289677"/>
                  </a:lnTo>
                  <a:cubicBezTo>
                    <a:pt x="5053076" y="5289677"/>
                    <a:pt x="5150866" y="5191887"/>
                    <a:pt x="5150866" y="5071237"/>
                  </a:cubicBezTo>
                  <a:lnTo>
                    <a:pt x="5150866" y="269240"/>
                  </a:lnTo>
                  <a:cubicBezTo>
                    <a:pt x="5150866" y="148590"/>
                    <a:pt x="5053076" y="50800"/>
                    <a:pt x="4932426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3663" y="3159843"/>
            <a:ext cx="152400" cy="3967315"/>
            <a:chOff x="0" y="0"/>
            <a:chExt cx="203200" cy="52897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5289804"/>
            </a:xfrm>
            <a:custGeom>
              <a:avLst/>
              <a:gdLst/>
              <a:ahLst/>
              <a:cxnLst/>
              <a:rect l="l" t="t" r="r" b="b"/>
              <a:pathLst>
                <a:path w="203200" h="528980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188204"/>
                  </a:lnTo>
                  <a:cubicBezTo>
                    <a:pt x="203200" y="5244338"/>
                    <a:pt x="157734" y="5289804"/>
                    <a:pt x="101600" y="5289804"/>
                  </a:cubicBezTo>
                  <a:cubicBezTo>
                    <a:pt x="45466" y="5289804"/>
                    <a:pt x="0" y="5244338"/>
                    <a:pt x="0" y="518820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37675" y="3471929"/>
            <a:ext cx="310559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Simpler Sentences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7675" y="4451671"/>
            <a:ext cx="3105598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translated simpler sentences effectively and consistently.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129365" y="3140793"/>
            <a:ext cx="3901383" cy="4005415"/>
            <a:chOff x="0" y="0"/>
            <a:chExt cx="5201844" cy="5340553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5150993" cy="5289804"/>
            </a:xfrm>
            <a:custGeom>
              <a:avLst/>
              <a:gdLst/>
              <a:ahLst/>
              <a:cxnLst/>
              <a:rect l="l" t="t" r="r" b="b"/>
              <a:pathLst>
                <a:path w="5150993" h="5289804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967"/>
                  </a:cubicBezTo>
                  <a:lnTo>
                    <a:pt x="5150993" y="5045837"/>
                  </a:lnTo>
                  <a:cubicBezTo>
                    <a:pt x="5150993" y="5180584"/>
                    <a:pt x="5041773" y="5289804"/>
                    <a:pt x="4907153" y="5289804"/>
                  </a:cubicBezTo>
                  <a:lnTo>
                    <a:pt x="243840" y="5289804"/>
                  </a:lnTo>
                  <a:cubicBezTo>
                    <a:pt x="109220" y="5289804"/>
                    <a:pt x="0" y="5180584"/>
                    <a:pt x="0" y="50458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201793" cy="5340604"/>
            </a:xfrm>
            <a:custGeom>
              <a:avLst/>
              <a:gdLst/>
              <a:ahLst/>
              <a:cxnLst/>
              <a:rect l="l" t="t" r="r" b="b"/>
              <a:pathLst>
                <a:path w="5201793" h="5340604">
                  <a:moveTo>
                    <a:pt x="0" y="269367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523"/>
                    <a:pt x="5201793" y="269367"/>
                  </a:cubicBezTo>
                  <a:lnTo>
                    <a:pt x="5176393" y="269367"/>
                  </a:lnTo>
                  <a:lnTo>
                    <a:pt x="5201793" y="269367"/>
                  </a:lnTo>
                  <a:lnTo>
                    <a:pt x="5201793" y="5071237"/>
                  </a:lnTo>
                  <a:lnTo>
                    <a:pt x="5176393" y="5071237"/>
                  </a:lnTo>
                  <a:lnTo>
                    <a:pt x="5201793" y="5071237"/>
                  </a:lnTo>
                  <a:cubicBezTo>
                    <a:pt x="5201793" y="5219954"/>
                    <a:pt x="5081270" y="5340604"/>
                    <a:pt x="4932553" y="5340604"/>
                  </a:cubicBezTo>
                  <a:lnTo>
                    <a:pt x="4932553" y="5315204"/>
                  </a:lnTo>
                  <a:lnTo>
                    <a:pt x="4932553" y="5340604"/>
                  </a:lnTo>
                  <a:lnTo>
                    <a:pt x="269240" y="5340604"/>
                  </a:lnTo>
                  <a:lnTo>
                    <a:pt x="269240" y="5315204"/>
                  </a:lnTo>
                  <a:lnTo>
                    <a:pt x="269240" y="5340604"/>
                  </a:lnTo>
                  <a:cubicBezTo>
                    <a:pt x="120523" y="5340604"/>
                    <a:pt x="0" y="5219954"/>
                    <a:pt x="0" y="5071237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5071237"/>
                  </a:lnTo>
                  <a:lnTo>
                    <a:pt x="25400" y="5071237"/>
                  </a:lnTo>
                  <a:lnTo>
                    <a:pt x="50800" y="5071237"/>
                  </a:lnTo>
                  <a:cubicBezTo>
                    <a:pt x="50800" y="5191887"/>
                    <a:pt x="148590" y="5289804"/>
                    <a:pt x="269240" y="5289804"/>
                  </a:cubicBezTo>
                  <a:lnTo>
                    <a:pt x="4932553" y="5289804"/>
                  </a:lnTo>
                  <a:cubicBezTo>
                    <a:pt x="5053203" y="5289804"/>
                    <a:pt x="5150993" y="5192014"/>
                    <a:pt x="5150993" y="5071237"/>
                  </a:cubicBezTo>
                  <a:lnTo>
                    <a:pt x="5150993" y="269367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110315" y="3159843"/>
            <a:ext cx="152400" cy="3967315"/>
            <a:chOff x="0" y="0"/>
            <a:chExt cx="203200" cy="52897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5289804"/>
            </a:xfrm>
            <a:custGeom>
              <a:avLst/>
              <a:gdLst/>
              <a:ahLst/>
              <a:cxnLst/>
              <a:rect l="l" t="t" r="r" b="b"/>
              <a:pathLst>
                <a:path w="203200" h="528980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188204"/>
                  </a:lnTo>
                  <a:cubicBezTo>
                    <a:pt x="203200" y="5244338"/>
                    <a:pt x="157734" y="5289804"/>
                    <a:pt x="101600" y="5289804"/>
                  </a:cubicBezTo>
                  <a:cubicBezTo>
                    <a:pt x="45466" y="5289804"/>
                    <a:pt x="0" y="5244338"/>
                    <a:pt x="0" y="518820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584327" y="3471929"/>
            <a:ext cx="31057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Complex Structures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4327" y="4451671"/>
            <a:ext cx="310575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Performance reduced for complex grammatical structures and longer dependencies.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76159" y="3140793"/>
            <a:ext cx="3901383" cy="4005415"/>
            <a:chOff x="0" y="0"/>
            <a:chExt cx="5201844" cy="5340553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5150993" cy="5289804"/>
            </a:xfrm>
            <a:custGeom>
              <a:avLst/>
              <a:gdLst/>
              <a:ahLst/>
              <a:cxnLst/>
              <a:rect l="l" t="t" r="r" b="b"/>
              <a:pathLst>
                <a:path w="5150993" h="5289804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967"/>
                  </a:cubicBezTo>
                  <a:lnTo>
                    <a:pt x="5150993" y="5045837"/>
                  </a:lnTo>
                  <a:cubicBezTo>
                    <a:pt x="5150993" y="5180584"/>
                    <a:pt x="5041773" y="5289804"/>
                    <a:pt x="4907153" y="5289804"/>
                  </a:cubicBezTo>
                  <a:lnTo>
                    <a:pt x="243840" y="5289804"/>
                  </a:lnTo>
                  <a:cubicBezTo>
                    <a:pt x="109220" y="5289804"/>
                    <a:pt x="0" y="5180584"/>
                    <a:pt x="0" y="50458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5201793" cy="5340604"/>
            </a:xfrm>
            <a:custGeom>
              <a:avLst/>
              <a:gdLst/>
              <a:ahLst/>
              <a:cxnLst/>
              <a:rect l="l" t="t" r="r" b="b"/>
              <a:pathLst>
                <a:path w="5201793" h="5340604">
                  <a:moveTo>
                    <a:pt x="0" y="269367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523"/>
                    <a:pt x="5201793" y="269367"/>
                  </a:cubicBezTo>
                  <a:lnTo>
                    <a:pt x="5176393" y="269367"/>
                  </a:lnTo>
                  <a:lnTo>
                    <a:pt x="5201793" y="269367"/>
                  </a:lnTo>
                  <a:lnTo>
                    <a:pt x="5201793" y="5071237"/>
                  </a:lnTo>
                  <a:lnTo>
                    <a:pt x="5176393" y="5071237"/>
                  </a:lnTo>
                  <a:lnTo>
                    <a:pt x="5201793" y="5071237"/>
                  </a:lnTo>
                  <a:cubicBezTo>
                    <a:pt x="5201793" y="5219954"/>
                    <a:pt x="5081270" y="5340604"/>
                    <a:pt x="4932553" y="5340604"/>
                  </a:cubicBezTo>
                  <a:lnTo>
                    <a:pt x="4932553" y="5315204"/>
                  </a:lnTo>
                  <a:lnTo>
                    <a:pt x="4932553" y="5340604"/>
                  </a:lnTo>
                  <a:lnTo>
                    <a:pt x="269240" y="5340604"/>
                  </a:lnTo>
                  <a:lnTo>
                    <a:pt x="269240" y="5315204"/>
                  </a:lnTo>
                  <a:lnTo>
                    <a:pt x="269240" y="5340604"/>
                  </a:lnTo>
                  <a:cubicBezTo>
                    <a:pt x="120523" y="5340604"/>
                    <a:pt x="0" y="5219954"/>
                    <a:pt x="0" y="5071237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5071237"/>
                  </a:lnTo>
                  <a:lnTo>
                    <a:pt x="25400" y="5071237"/>
                  </a:lnTo>
                  <a:lnTo>
                    <a:pt x="50800" y="5071237"/>
                  </a:lnTo>
                  <a:cubicBezTo>
                    <a:pt x="50800" y="5191887"/>
                    <a:pt x="148590" y="5289804"/>
                    <a:pt x="269240" y="5289804"/>
                  </a:cubicBezTo>
                  <a:lnTo>
                    <a:pt x="4932553" y="5289804"/>
                  </a:lnTo>
                  <a:cubicBezTo>
                    <a:pt x="5053203" y="5289804"/>
                    <a:pt x="5150993" y="5192014"/>
                    <a:pt x="5150993" y="5071237"/>
                  </a:cubicBezTo>
                  <a:lnTo>
                    <a:pt x="5150993" y="269367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257109" y="3159843"/>
            <a:ext cx="152400" cy="3967315"/>
            <a:chOff x="0" y="0"/>
            <a:chExt cx="203200" cy="5289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5289804"/>
            </a:xfrm>
            <a:custGeom>
              <a:avLst/>
              <a:gdLst/>
              <a:ahLst/>
              <a:cxnLst/>
              <a:rect l="l" t="t" r="r" b="b"/>
              <a:pathLst>
                <a:path w="203200" h="528980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188204"/>
                  </a:lnTo>
                  <a:cubicBezTo>
                    <a:pt x="203200" y="5244338"/>
                    <a:pt x="157734" y="5289804"/>
                    <a:pt x="101600" y="5289804"/>
                  </a:cubicBezTo>
                  <a:cubicBezTo>
                    <a:pt x="45466" y="5289804"/>
                    <a:pt x="0" y="5244338"/>
                    <a:pt x="0" y="518820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731131" y="3471929"/>
            <a:ext cx="31057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Few-Shot Prompting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31131" y="4451671"/>
            <a:ext cx="3105750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Few-shot prompting improved contextual understanding and translation quality.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22954" y="3140793"/>
            <a:ext cx="3901383" cy="4005415"/>
            <a:chOff x="0" y="0"/>
            <a:chExt cx="5201844" cy="5340553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5150993" cy="5289804"/>
            </a:xfrm>
            <a:custGeom>
              <a:avLst/>
              <a:gdLst/>
              <a:ahLst/>
              <a:cxnLst/>
              <a:rect l="l" t="t" r="r" b="b"/>
              <a:pathLst>
                <a:path w="5150993" h="5289804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220"/>
                    <a:pt x="5150993" y="243967"/>
                  </a:cubicBezTo>
                  <a:lnTo>
                    <a:pt x="5150993" y="5045837"/>
                  </a:lnTo>
                  <a:cubicBezTo>
                    <a:pt x="5150993" y="5180584"/>
                    <a:pt x="5041773" y="5289804"/>
                    <a:pt x="4907153" y="5289804"/>
                  </a:cubicBezTo>
                  <a:lnTo>
                    <a:pt x="243840" y="5289804"/>
                  </a:lnTo>
                  <a:cubicBezTo>
                    <a:pt x="109220" y="5289804"/>
                    <a:pt x="0" y="5180584"/>
                    <a:pt x="0" y="50458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5201793" cy="5340604"/>
            </a:xfrm>
            <a:custGeom>
              <a:avLst/>
              <a:gdLst/>
              <a:ahLst/>
              <a:cxnLst/>
              <a:rect l="l" t="t" r="r" b="b"/>
              <a:pathLst>
                <a:path w="5201793" h="5340604">
                  <a:moveTo>
                    <a:pt x="0" y="269367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523"/>
                    <a:pt x="5201793" y="269367"/>
                  </a:cubicBezTo>
                  <a:lnTo>
                    <a:pt x="5176393" y="269367"/>
                  </a:lnTo>
                  <a:lnTo>
                    <a:pt x="5201793" y="269367"/>
                  </a:lnTo>
                  <a:lnTo>
                    <a:pt x="5201793" y="5071237"/>
                  </a:lnTo>
                  <a:lnTo>
                    <a:pt x="5176393" y="5071237"/>
                  </a:lnTo>
                  <a:lnTo>
                    <a:pt x="5201793" y="5071237"/>
                  </a:lnTo>
                  <a:cubicBezTo>
                    <a:pt x="5201793" y="5219954"/>
                    <a:pt x="5081270" y="5340604"/>
                    <a:pt x="4932553" y="5340604"/>
                  </a:cubicBezTo>
                  <a:lnTo>
                    <a:pt x="4932553" y="5315204"/>
                  </a:lnTo>
                  <a:lnTo>
                    <a:pt x="4932553" y="5340604"/>
                  </a:lnTo>
                  <a:lnTo>
                    <a:pt x="269240" y="5340604"/>
                  </a:lnTo>
                  <a:lnTo>
                    <a:pt x="269240" y="5315204"/>
                  </a:lnTo>
                  <a:lnTo>
                    <a:pt x="269240" y="5340604"/>
                  </a:lnTo>
                  <a:cubicBezTo>
                    <a:pt x="120523" y="5340604"/>
                    <a:pt x="0" y="5219954"/>
                    <a:pt x="0" y="5071237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5071237"/>
                  </a:lnTo>
                  <a:lnTo>
                    <a:pt x="25400" y="5071237"/>
                  </a:lnTo>
                  <a:lnTo>
                    <a:pt x="50800" y="5071237"/>
                  </a:lnTo>
                  <a:cubicBezTo>
                    <a:pt x="50800" y="5191887"/>
                    <a:pt x="148590" y="5289804"/>
                    <a:pt x="269240" y="5289804"/>
                  </a:cubicBezTo>
                  <a:lnTo>
                    <a:pt x="4932553" y="5289804"/>
                  </a:lnTo>
                  <a:cubicBezTo>
                    <a:pt x="5053203" y="5289804"/>
                    <a:pt x="5150993" y="5192014"/>
                    <a:pt x="5150993" y="5071237"/>
                  </a:cubicBezTo>
                  <a:lnTo>
                    <a:pt x="5150993" y="269367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403904" y="3159843"/>
            <a:ext cx="152400" cy="3967315"/>
            <a:chOff x="0" y="0"/>
            <a:chExt cx="203200" cy="52897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5289804"/>
            </a:xfrm>
            <a:custGeom>
              <a:avLst/>
              <a:gdLst/>
              <a:ahLst/>
              <a:cxnLst/>
              <a:rect l="l" t="t" r="r" b="b"/>
              <a:pathLst>
                <a:path w="203200" h="528980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188204"/>
                  </a:lnTo>
                  <a:cubicBezTo>
                    <a:pt x="203200" y="5244338"/>
                    <a:pt x="157734" y="5289804"/>
                    <a:pt x="101600" y="5289804"/>
                  </a:cubicBezTo>
                  <a:cubicBezTo>
                    <a:pt x="45466" y="5289804"/>
                    <a:pt x="0" y="5244338"/>
                    <a:pt x="0" y="518820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3877925" y="3471929"/>
            <a:ext cx="31057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Remaining Issues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77925" y="4008758"/>
            <a:ext cx="310575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Some translations still contained grammatical inconsistencies.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607469" y="990600"/>
            <a:ext cx="13073062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Advantages of Proposed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703291"/>
            <a:ext cx="16303523" cy="277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Reduced computational cost through quantization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Efficient fine-tuning with LoRA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Effective performance in low-resource environments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Improved Gujarati-English translation quality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Scalable to other Indic languages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892469" y="990600"/>
            <a:ext cx="4503063" cy="102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2713" y="2919336"/>
            <a:ext cx="3901230" cy="4448327"/>
            <a:chOff x="0" y="0"/>
            <a:chExt cx="5201641" cy="5931103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5150866" cy="5880227"/>
            </a:xfrm>
            <a:custGeom>
              <a:avLst/>
              <a:gdLst/>
              <a:ahLst/>
              <a:cxnLst/>
              <a:rect l="l" t="t" r="r" b="b"/>
              <a:pathLst>
                <a:path w="5150866" h="5880227">
                  <a:moveTo>
                    <a:pt x="0" y="244094"/>
                  </a:moveTo>
                  <a:cubicBezTo>
                    <a:pt x="0" y="109347"/>
                    <a:pt x="109220" y="0"/>
                    <a:pt x="243840" y="0"/>
                  </a:cubicBezTo>
                  <a:lnTo>
                    <a:pt x="4907026" y="0"/>
                  </a:lnTo>
                  <a:cubicBezTo>
                    <a:pt x="5041646" y="0"/>
                    <a:pt x="5150866" y="109347"/>
                    <a:pt x="5150866" y="244094"/>
                  </a:cubicBezTo>
                  <a:lnTo>
                    <a:pt x="5150866" y="5636133"/>
                  </a:lnTo>
                  <a:cubicBezTo>
                    <a:pt x="5150866" y="5771007"/>
                    <a:pt x="5041646" y="5880227"/>
                    <a:pt x="4907026" y="5880227"/>
                  </a:cubicBezTo>
                  <a:lnTo>
                    <a:pt x="243840" y="5880227"/>
                  </a:lnTo>
                  <a:cubicBezTo>
                    <a:pt x="109220" y="5880227"/>
                    <a:pt x="0" y="5770880"/>
                    <a:pt x="0" y="56361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201666" cy="5931027"/>
            </a:xfrm>
            <a:custGeom>
              <a:avLst/>
              <a:gdLst/>
              <a:ahLst/>
              <a:cxnLst/>
              <a:rect l="l" t="t" r="r" b="b"/>
              <a:pathLst>
                <a:path w="5201666" h="5931027">
                  <a:moveTo>
                    <a:pt x="0" y="269494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932426" y="0"/>
                  </a:lnTo>
                  <a:lnTo>
                    <a:pt x="4932426" y="25400"/>
                  </a:lnTo>
                  <a:lnTo>
                    <a:pt x="4932426" y="0"/>
                  </a:lnTo>
                  <a:cubicBezTo>
                    <a:pt x="5081143" y="0"/>
                    <a:pt x="5201666" y="120650"/>
                    <a:pt x="5201666" y="269494"/>
                  </a:cubicBezTo>
                  <a:lnTo>
                    <a:pt x="5176266" y="269494"/>
                  </a:lnTo>
                  <a:lnTo>
                    <a:pt x="5201666" y="269494"/>
                  </a:lnTo>
                  <a:lnTo>
                    <a:pt x="5201666" y="5661533"/>
                  </a:lnTo>
                  <a:lnTo>
                    <a:pt x="5176266" y="5661533"/>
                  </a:lnTo>
                  <a:lnTo>
                    <a:pt x="5201666" y="5661533"/>
                  </a:lnTo>
                  <a:cubicBezTo>
                    <a:pt x="5201666" y="5810377"/>
                    <a:pt x="5081143" y="5931027"/>
                    <a:pt x="4932426" y="5931027"/>
                  </a:cubicBezTo>
                  <a:lnTo>
                    <a:pt x="4932426" y="5905627"/>
                  </a:lnTo>
                  <a:lnTo>
                    <a:pt x="4932426" y="5931027"/>
                  </a:lnTo>
                  <a:lnTo>
                    <a:pt x="269240" y="5931027"/>
                  </a:lnTo>
                  <a:lnTo>
                    <a:pt x="269240" y="5905627"/>
                  </a:lnTo>
                  <a:lnTo>
                    <a:pt x="269240" y="5931027"/>
                  </a:lnTo>
                  <a:cubicBezTo>
                    <a:pt x="120523" y="5931027"/>
                    <a:pt x="0" y="5810377"/>
                    <a:pt x="0" y="5661533"/>
                  </a:cubicBezTo>
                  <a:lnTo>
                    <a:pt x="0" y="269494"/>
                  </a:lnTo>
                  <a:lnTo>
                    <a:pt x="25400" y="269494"/>
                  </a:lnTo>
                  <a:lnTo>
                    <a:pt x="0" y="269494"/>
                  </a:lnTo>
                  <a:moveTo>
                    <a:pt x="50800" y="269494"/>
                  </a:moveTo>
                  <a:lnTo>
                    <a:pt x="50800" y="5661533"/>
                  </a:lnTo>
                  <a:lnTo>
                    <a:pt x="25400" y="5661533"/>
                  </a:lnTo>
                  <a:lnTo>
                    <a:pt x="50800" y="5661533"/>
                  </a:lnTo>
                  <a:cubicBezTo>
                    <a:pt x="50800" y="5782310"/>
                    <a:pt x="148590" y="5880227"/>
                    <a:pt x="269240" y="5880227"/>
                  </a:cubicBezTo>
                  <a:lnTo>
                    <a:pt x="4932426" y="5880227"/>
                  </a:lnTo>
                  <a:cubicBezTo>
                    <a:pt x="5053076" y="5880227"/>
                    <a:pt x="5150866" y="5782310"/>
                    <a:pt x="5150866" y="5661533"/>
                  </a:cubicBezTo>
                  <a:lnTo>
                    <a:pt x="5150866" y="269494"/>
                  </a:lnTo>
                  <a:cubicBezTo>
                    <a:pt x="5150866" y="148717"/>
                    <a:pt x="5053076" y="50800"/>
                    <a:pt x="4932426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717"/>
                    <a:pt x="50800" y="269494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3663" y="2938386"/>
            <a:ext cx="152400" cy="4410227"/>
            <a:chOff x="0" y="0"/>
            <a:chExt cx="203200" cy="5880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5880354"/>
            </a:xfrm>
            <a:custGeom>
              <a:avLst/>
              <a:gdLst/>
              <a:ahLst/>
              <a:cxnLst/>
              <a:rect l="l" t="t" r="r" b="b"/>
              <a:pathLst>
                <a:path w="203200" h="58803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78754"/>
                  </a:lnTo>
                  <a:cubicBezTo>
                    <a:pt x="203200" y="5834888"/>
                    <a:pt x="157734" y="5880354"/>
                    <a:pt x="101600" y="5880354"/>
                  </a:cubicBezTo>
                  <a:cubicBezTo>
                    <a:pt x="45466" y="5880354"/>
                    <a:pt x="0" y="5834888"/>
                    <a:pt x="0" y="577875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37675" y="3250473"/>
            <a:ext cx="310559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Efficient MT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7675" y="4230214"/>
            <a:ext cx="3105598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Proposed a Gujarati-English machine translation system designed for low-resource settings.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129365" y="2919336"/>
            <a:ext cx="3901383" cy="4448327"/>
            <a:chOff x="0" y="0"/>
            <a:chExt cx="5201844" cy="5931103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5150993" cy="5880227"/>
            </a:xfrm>
            <a:custGeom>
              <a:avLst/>
              <a:gdLst/>
              <a:ahLst/>
              <a:cxnLst/>
              <a:rect l="l" t="t" r="r" b="b"/>
              <a:pathLst>
                <a:path w="5150993" h="5880227">
                  <a:moveTo>
                    <a:pt x="0" y="244094"/>
                  </a:moveTo>
                  <a:cubicBezTo>
                    <a:pt x="0" y="109347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347"/>
                    <a:pt x="5150993" y="244094"/>
                  </a:cubicBezTo>
                  <a:lnTo>
                    <a:pt x="5150993" y="5636133"/>
                  </a:lnTo>
                  <a:cubicBezTo>
                    <a:pt x="5150993" y="5771007"/>
                    <a:pt x="5041773" y="5880227"/>
                    <a:pt x="4907153" y="5880227"/>
                  </a:cubicBezTo>
                  <a:lnTo>
                    <a:pt x="243840" y="5880227"/>
                  </a:lnTo>
                  <a:cubicBezTo>
                    <a:pt x="109220" y="5880227"/>
                    <a:pt x="0" y="5770880"/>
                    <a:pt x="0" y="56361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201793" cy="5931027"/>
            </a:xfrm>
            <a:custGeom>
              <a:avLst/>
              <a:gdLst/>
              <a:ahLst/>
              <a:cxnLst/>
              <a:rect l="l" t="t" r="r" b="b"/>
              <a:pathLst>
                <a:path w="5201793" h="5931027">
                  <a:moveTo>
                    <a:pt x="0" y="269494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650"/>
                    <a:pt x="5201793" y="269494"/>
                  </a:cubicBezTo>
                  <a:lnTo>
                    <a:pt x="5176393" y="269494"/>
                  </a:lnTo>
                  <a:lnTo>
                    <a:pt x="5201793" y="269494"/>
                  </a:lnTo>
                  <a:lnTo>
                    <a:pt x="5201793" y="5661533"/>
                  </a:lnTo>
                  <a:lnTo>
                    <a:pt x="5176393" y="5661533"/>
                  </a:lnTo>
                  <a:lnTo>
                    <a:pt x="5201793" y="5661533"/>
                  </a:lnTo>
                  <a:cubicBezTo>
                    <a:pt x="5201793" y="5810377"/>
                    <a:pt x="5081270" y="5931027"/>
                    <a:pt x="4932553" y="5931027"/>
                  </a:cubicBezTo>
                  <a:lnTo>
                    <a:pt x="4932553" y="5905627"/>
                  </a:lnTo>
                  <a:lnTo>
                    <a:pt x="4932553" y="5931027"/>
                  </a:lnTo>
                  <a:lnTo>
                    <a:pt x="269240" y="5931027"/>
                  </a:lnTo>
                  <a:lnTo>
                    <a:pt x="269240" y="5905627"/>
                  </a:lnTo>
                  <a:lnTo>
                    <a:pt x="269240" y="5931027"/>
                  </a:lnTo>
                  <a:cubicBezTo>
                    <a:pt x="120523" y="5931027"/>
                    <a:pt x="0" y="5810377"/>
                    <a:pt x="0" y="5661533"/>
                  </a:cubicBezTo>
                  <a:lnTo>
                    <a:pt x="0" y="269494"/>
                  </a:lnTo>
                  <a:lnTo>
                    <a:pt x="25400" y="269494"/>
                  </a:lnTo>
                  <a:lnTo>
                    <a:pt x="0" y="269494"/>
                  </a:lnTo>
                  <a:moveTo>
                    <a:pt x="50800" y="269494"/>
                  </a:moveTo>
                  <a:lnTo>
                    <a:pt x="50800" y="5661533"/>
                  </a:lnTo>
                  <a:lnTo>
                    <a:pt x="25400" y="5661533"/>
                  </a:lnTo>
                  <a:lnTo>
                    <a:pt x="50800" y="5661533"/>
                  </a:lnTo>
                  <a:cubicBezTo>
                    <a:pt x="50800" y="5782310"/>
                    <a:pt x="148590" y="5880227"/>
                    <a:pt x="269240" y="5880227"/>
                  </a:cubicBezTo>
                  <a:lnTo>
                    <a:pt x="4932553" y="5880227"/>
                  </a:lnTo>
                  <a:cubicBezTo>
                    <a:pt x="5053203" y="5880227"/>
                    <a:pt x="5150993" y="5782310"/>
                    <a:pt x="5150993" y="5661533"/>
                  </a:cubicBezTo>
                  <a:lnTo>
                    <a:pt x="5150993" y="269494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717"/>
                    <a:pt x="50800" y="269494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110315" y="2938386"/>
            <a:ext cx="152400" cy="4410227"/>
            <a:chOff x="0" y="0"/>
            <a:chExt cx="203200" cy="58803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5880354"/>
            </a:xfrm>
            <a:custGeom>
              <a:avLst/>
              <a:gdLst/>
              <a:ahLst/>
              <a:cxnLst/>
              <a:rect l="l" t="t" r="r" b="b"/>
              <a:pathLst>
                <a:path w="203200" h="58803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78754"/>
                  </a:lnTo>
                  <a:cubicBezTo>
                    <a:pt x="203200" y="5834888"/>
                    <a:pt x="157734" y="5880354"/>
                    <a:pt x="101600" y="5880354"/>
                  </a:cubicBezTo>
                  <a:cubicBezTo>
                    <a:pt x="45466" y="5880354"/>
                    <a:pt x="0" y="5834888"/>
                    <a:pt x="0" y="577875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584327" y="3250473"/>
            <a:ext cx="31057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Lightweight adaptation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84327" y="4230214"/>
            <a:ext cx="3105750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Combined Quantized LLaMA with LoRA fine-tuning to reduce computational cost.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76159" y="2919336"/>
            <a:ext cx="3901383" cy="4448327"/>
            <a:chOff x="0" y="0"/>
            <a:chExt cx="5201844" cy="5931103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5150993" cy="5880227"/>
            </a:xfrm>
            <a:custGeom>
              <a:avLst/>
              <a:gdLst/>
              <a:ahLst/>
              <a:cxnLst/>
              <a:rect l="l" t="t" r="r" b="b"/>
              <a:pathLst>
                <a:path w="5150993" h="5880227">
                  <a:moveTo>
                    <a:pt x="0" y="244094"/>
                  </a:moveTo>
                  <a:cubicBezTo>
                    <a:pt x="0" y="109347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347"/>
                    <a:pt x="5150993" y="244094"/>
                  </a:cubicBezTo>
                  <a:lnTo>
                    <a:pt x="5150993" y="5636133"/>
                  </a:lnTo>
                  <a:cubicBezTo>
                    <a:pt x="5150993" y="5771007"/>
                    <a:pt x="5041773" y="5880227"/>
                    <a:pt x="4907153" y="5880227"/>
                  </a:cubicBezTo>
                  <a:lnTo>
                    <a:pt x="243840" y="5880227"/>
                  </a:lnTo>
                  <a:cubicBezTo>
                    <a:pt x="109220" y="5880227"/>
                    <a:pt x="0" y="5770880"/>
                    <a:pt x="0" y="56361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5201793" cy="5931027"/>
            </a:xfrm>
            <a:custGeom>
              <a:avLst/>
              <a:gdLst/>
              <a:ahLst/>
              <a:cxnLst/>
              <a:rect l="l" t="t" r="r" b="b"/>
              <a:pathLst>
                <a:path w="5201793" h="5931027">
                  <a:moveTo>
                    <a:pt x="0" y="269494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650"/>
                    <a:pt x="5201793" y="269494"/>
                  </a:cubicBezTo>
                  <a:lnTo>
                    <a:pt x="5176393" y="269494"/>
                  </a:lnTo>
                  <a:lnTo>
                    <a:pt x="5201793" y="269494"/>
                  </a:lnTo>
                  <a:lnTo>
                    <a:pt x="5201793" y="5661533"/>
                  </a:lnTo>
                  <a:lnTo>
                    <a:pt x="5176393" y="5661533"/>
                  </a:lnTo>
                  <a:lnTo>
                    <a:pt x="5201793" y="5661533"/>
                  </a:lnTo>
                  <a:cubicBezTo>
                    <a:pt x="5201793" y="5810377"/>
                    <a:pt x="5081270" y="5931027"/>
                    <a:pt x="4932553" y="5931027"/>
                  </a:cubicBezTo>
                  <a:lnTo>
                    <a:pt x="4932553" y="5905627"/>
                  </a:lnTo>
                  <a:lnTo>
                    <a:pt x="4932553" y="5931027"/>
                  </a:lnTo>
                  <a:lnTo>
                    <a:pt x="269240" y="5931027"/>
                  </a:lnTo>
                  <a:lnTo>
                    <a:pt x="269240" y="5905627"/>
                  </a:lnTo>
                  <a:lnTo>
                    <a:pt x="269240" y="5931027"/>
                  </a:lnTo>
                  <a:cubicBezTo>
                    <a:pt x="120523" y="5931027"/>
                    <a:pt x="0" y="5810377"/>
                    <a:pt x="0" y="5661533"/>
                  </a:cubicBezTo>
                  <a:lnTo>
                    <a:pt x="0" y="269494"/>
                  </a:lnTo>
                  <a:lnTo>
                    <a:pt x="25400" y="269494"/>
                  </a:lnTo>
                  <a:lnTo>
                    <a:pt x="0" y="269494"/>
                  </a:lnTo>
                  <a:moveTo>
                    <a:pt x="50800" y="269494"/>
                  </a:moveTo>
                  <a:lnTo>
                    <a:pt x="50800" y="5661533"/>
                  </a:lnTo>
                  <a:lnTo>
                    <a:pt x="25400" y="5661533"/>
                  </a:lnTo>
                  <a:lnTo>
                    <a:pt x="50800" y="5661533"/>
                  </a:lnTo>
                  <a:cubicBezTo>
                    <a:pt x="50800" y="5782310"/>
                    <a:pt x="148590" y="5880227"/>
                    <a:pt x="269240" y="5880227"/>
                  </a:cubicBezTo>
                  <a:lnTo>
                    <a:pt x="4932553" y="5880227"/>
                  </a:lnTo>
                  <a:cubicBezTo>
                    <a:pt x="5053203" y="5880227"/>
                    <a:pt x="5150993" y="5782310"/>
                    <a:pt x="5150993" y="5661533"/>
                  </a:cubicBezTo>
                  <a:lnTo>
                    <a:pt x="5150993" y="269494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717"/>
                    <a:pt x="50800" y="269494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257109" y="2938386"/>
            <a:ext cx="152400" cy="4410227"/>
            <a:chOff x="0" y="0"/>
            <a:chExt cx="203200" cy="58803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5880354"/>
            </a:xfrm>
            <a:custGeom>
              <a:avLst/>
              <a:gdLst/>
              <a:ahLst/>
              <a:cxnLst/>
              <a:rect l="l" t="t" r="r" b="b"/>
              <a:pathLst>
                <a:path w="203200" h="58803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78754"/>
                  </a:lnTo>
                  <a:cubicBezTo>
                    <a:pt x="203200" y="5834888"/>
                    <a:pt x="157734" y="5880354"/>
                    <a:pt x="101600" y="5880354"/>
                  </a:cubicBezTo>
                  <a:cubicBezTo>
                    <a:pt x="45466" y="5880354"/>
                    <a:pt x="0" y="5834888"/>
                    <a:pt x="0" y="577875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731131" y="3250473"/>
            <a:ext cx="3105750" cy="133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Strong performance gains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31131" y="4673127"/>
            <a:ext cx="310575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Few-shot learning improved translation quality, with better BLEU and semantic metrics.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22954" y="2919336"/>
            <a:ext cx="3901383" cy="4448327"/>
            <a:chOff x="0" y="0"/>
            <a:chExt cx="5201844" cy="5931103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5150993" cy="5880227"/>
            </a:xfrm>
            <a:custGeom>
              <a:avLst/>
              <a:gdLst/>
              <a:ahLst/>
              <a:cxnLst/>
              <a:rect l="l" t="t" r="r" b="b"/>
              <a:pathLst>
                <a:path w="5150993" h="5880227">
                  <a:moveTo>
                    <a:pt x="0" y="244094"/>
                  </a:moveTo>
                  <a:cubicBezTo>
                    <a:pt x="0" y="109347"/>
                    <a:pt x="109220" y="0"/>
                    <a:pt x="243840" y="0"/>
                  </a:cubicBezTo>
                  <a:lnTo>
                    <a:pt x="4907153" y="0"/>
                  </a:lnTo>
                  <a:cubicBezTo>
                    <a:pt x="5041773" y="0"/>
                    <a:pt x="5150993" y="109347"/>
                    <a:pt x="5150993" y="244094"/>
                  </a:cubicBezTo>
                  <a:lnTo>
                    <a:pt x="5150993" y="5636133"/>
                  </a:lnTo>
                  <a:cubicBezTo>
                    <a:pt x="5150993" y="5771007"/>
                    <a:pt x="5041773" y="5880227"/>
                    <a:pt x="4907153" y="5880227"/>
                  </a:cubicBezTo>
                  <a:lnTo>
                    <a:pt x="243840" y="5880227"/>
                  </a:lnTo>
                  <a:cubicBezTo>
                    <a:pt x="109220" y="5880227"/>
                    <a:pt x="0" y="5770880"/>
                    <a:pt x="0" y="56361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5201793" cy="5931027"/>
            </a:xfrm>
            <a:custGeom>
              <a:avLst/>
              <a:gdLst/>
              <a:ahLst/>
              <a:cxnLst/>
              <a:rect l="l" t="t" r="r" b="b"/>
              <a:pathLst>
                <a:path w="5201793" h="5931027">
                  <a:moveTo>
                    <a:pt x="0" y="269494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932553" y="0"/>
                  </a:lnTo>
                  <a:lnTo>
                    <a:pt x="4932553" y="25400"/>
                  </a:lnTo>
                  <a:lnTo>
                    <a:pt x="4932553" y="0"/>
                  </a:lnTo>
                  <a:cubicBezTo>
                    <a:pt x="5081270" y="0"/>
                    <a:pt x="5201793" y="120650"/>
                    <a:pt x="5201793" y="269494"/>
                  </a:cubicBezTo>
                  <a:lnTo>
                    <a:pt x="5176393" y="269494"/>
                  </a:lnTo>
                  <a:lnTo>
                    <a:pt x="5201793" y="269494"/>
                  </a:lnTo>
                  <a:lnTo>
                    <a:pt x="5201793" y="5661533"/>
                  </a:lnTo>
                  <a:lnTo>
                    <a:pt x="5176393" y="5661533"/>
                  </a:lnTo>
                  <a:lnTo>
                    <a:pt x="5201793" y="5661533"/>
                  </a:lnTo>
                  <a:cubicBezTo>
                    <a:pt x="5201793" y="5810377"/>
                    <a:pt x="5081270" y="5931027"/>
                    <a:pt x="4932553" y="5931027"/>
                  </a:cubicBezTo>
                  <a:lnTo>
                    <a:pt x="4932553" y="5905627"/>
                  </a:lnTo>
                  <a:lnTo>
                    <a:pt x="4932553" y="5931027"/>
                  </a:lnTo>
                  <a:lnTo>
                    <a:pt x="269240" y="5931027"/>
                  </a:lnTo>
                  <a:lnTo>
                    <a:pt x="269240" y="5905627"/>
                  </a:lnTo>
                  <a:lnTo>
                    <a:pt x="269240" y="5931027"/>
                  </a:lnTo>
                  <a:cubicBezTo>
                    <a:pt x="120523" y="5931027"/>
                    <a:pt x="0" y="5810377"/>
                    <a:pt x="0" y="5661533"/>
                  </a:cubicBezTo>
                  <a:lnTo>
                    <a:pt x="0" y="269494"/>
                  </a:lnTo>
                  <a:lnTo>
                    <a:pt x="25400" y="269494"/>
                  </a:lnTo>
                  <a:lnTo>
                    <a:pt x="0" y="269494"/>
                  </a:lnTo>
                  <a:moveTo>
                    <a:pt x="50800" y="269494"/>
                  </a:moveTo>
                  <a:lnTo>
                    <a:pt x="50800" y="5661533"/>
                  </a:lnTo>
                  <a:lnTo>
                    <a:pt x="25400" y="5661533"/>
                  </a:lnTo>
                  <a:lnTo>
                    <a:pt x="50800" y="5661533"/>
                  </a:lnTo>
                  <a:cubicBezTo>
                    <a:pt x="50800" y="5782310"/>
                    <a:pt x="148590" y="5880227"/>
                    <a:pt x="269240" y="5880227"/>
                  </a:cubicBezTo>
                  <a:lnTo>
                    <a:pt x="4932553" y="5880227"/>
                  </a:lnTo>
                  <a:cubicBezTo>
                    <a:pt x="5053203" y="5880227"/>
                    <a:pt x="5150993" y="5782310"/>
                    <a:pt x="5150993" y="5661533"/>
                  </a:cubicBezTo>
                  <a:lnTo>
                    <a:pt x="5150993" y="269494"/>
                  </a:lnTo>
                  <a:cubicBezTo>
                    <a:pt x="5150993" y="148717"/>
                    <a:pt x="5053203" y="50800"/>
                    <a:pt x="4932553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717"/>
                    <a:pt x="50800" y="269494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403904" y="2938386"/>
            <a:ext cx="152400" cy="4410227"/>
            <a:chOff x="0" y="0"/>
            <a:chExt cx="203200" cy="58803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5880354"/>
            </a:xfrm>
            <a:custGeom>
              <a:avLst/>
              <a:gdLst/>
              <a:ahLst/>
              <a:cxnLst/>
              <a:rect l="l" t="t" r="r" b="b"/>
              <a:pathLst>
                <a:path w="203200" h="58803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5778754"/>
                  </a:lnTo>
                  <a:cubicBezTo>
                    <a:pt x="203200" y="5834888"/>
                    <a:pt x="157734" y="5880354"/>
                    <a:pt x="101600" y="5880354"/>
                  </a:cubicBezTo>
                  <a:cubicBezTo>
                    <a:pt x="45466" y="5880354"/>
                    <a:pt x="0" y="5834888"/>
                    <a:pt x="0" y="5778754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3877925" y="3250473"/>
            <a:ext cx="31057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Broad applicability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77925" y="4230214"/>
            <a:ext cx="310575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approach is effective for Gujarati-English translation and can extend to other Indic languages.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946994" y="1028700"/>
            <a:ext cx="6321088" cy="1021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sz="6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5777" y="3703291"/>
            <a:ext cx="16303523" cy="277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 larger multilingual datasets for broader coverage.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 handling of complex sentence structures.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Explore advanced fine-tuning strategies.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Extend the approach to more Indic languages.</a:t>
            </a:r>
          </a:p>
          <a:p>
            <a:pPr marL="675639" lvl="1" indent="-337820" algn="l">
              <a:lnSpc>
                <a:spcPts val="4454"/>
              </a:lnSpc>
              <a:buFont typeface="Arial"/>
              <a:buChar char="•"/>
            </a:pPr>
            <a:r>
              <a:rPr lang="en-US" sz="27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Deploy lightweight translation systems on edge devices.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599881" y="1000125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48591"/>
            <a:ext cx="16303523" cy="653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Vaswani, A., et al. “Attention is All You Need.” Advances in Neural Information Processing Systems (NeurIPS), pp. 5998–6008, 2017.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Liu, Y., et al. “mBART: Multilingual Denoising Pre-training for Neural Machine Translation.” Proceedings of the 58th Annual Meeting of the Association for Computational Linguistics (ACL), pp. 7264–7275, 2020.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Ramesh, G., et al. “IndicTrans: Machine Translation Models for Indian Languages.” arXiv preprint arXiv:2104.05596, 2021.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AI4Bharat. “Multilingual Corpora for Indic Languages.” arXiv preprint arXiv:2009.06354, 2020.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Sennrich, R., Haddow, B., Birch, A. “Neural Machine Translation of Rare Words with Subword Units.” Proceedings of ACL, pp. 1715–1725, 2016.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Touvron, H., et al. “LLaMA: Open and Efficient Foundation Language Models.” arXiv preprint arXiv:2302.13971, 2023.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Touvron, H., et al. “LLaMA 2: Open Foundation and Fine-Tuned Chat Models.” arXiv preprint arXiv:2307.09288, 2023.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Hu, E.J., et al. “LoRA: Low-Rank Adaptation of Large Language Models.” International Conference on Learning Representations (ICLR), 2022.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Dettmers, T., et al. “QLoRA: Efficient Finetuning of Quantized LLMs.” arXiv preprint arXiv:2305.14314, 2023.</a:t>
            </a:r>
          </a:p>
          <a:p>
            <a:pPr marL="530859" lvl="1" indent="-265430" algn="l">
              <a:lnSpc>
                <a:spcPts val="3497"/>
              </a:lnSpc>
              <a:buAutoNum type="arabicPeriod"/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Houlsby, N., et al. “Parameter-Efficient Transfer Learning for NLP.” International Conference on Machine Learning (ICML), pp. 2790–2799, 2019.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599881" y="557136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0129" y="2161414"/>
            <a:ext cx="13327742" cy="709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Scao, T.L., et al. “BLOOM: A 176B-Parameter Open-Access Multilingual Language Model.” arXiv preprint arXiv:2211.05100, 2022.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Brown, T.B., et al. “Language Models are Few-Shot Learners.” Advances in Neural Information Processing Systems (NeurIPS), 2020.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Dettmers, T., et al. “8-bit Optimizers via Block-wise Quantization.” arXiv preprint arXiv:2110.02861, 2021.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Papineni, K., Roukos, S., Ward, T., Zhu, W.J. “BLEU: A Method for Automatic Evaluation of Machine Translation.” Proceedings of ACL, pp. 311–318, 2002.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Goyal, N., et al. “FLORES-101: A Multilingual Benchmark for Machine Translation.” arXiv preprint arXiv:2106.03193, 2021.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Kunchukuttan, A. “Indic NLP Library.” Available at: </a:t>
            </a: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  <a:hlinkClick r:id="rId3" tooltip="https://github.com/anoopkunchukuttan/indic_nlp_library"/>
              </a:rPr>
              <a:t>Vaswani, A., Shazeer, N., Parmar, N., Uszkoreit, J., Jones, L., Gomez, A. N., Kaiser, Ł., &amp; Polosukhin, I. (2017). Attention is all you need.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Tiedemann, J. “OPUS Corpus: Parallel Corpora for Machine Translation.” Available at: </a:t>
            </a: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  <a:hlinkClick r:id="rId4" tooltip="https://opus.nlpl.eu"/>
              </a:rPr>
              <a:t>Vaswani, A., Shazeer, N., Parmar, N., Uszkoreit, J., Jones, L., Gomez, A. N., Kaiser, Ł., &amp; Polosukhin, I. (2017). Attention is all you need.</a:t>
            </a:r>
          </a:p>
          <a:p>
            <a:pPr marL="506734" lvl="1" indent="-253367" algn="l">
              <a:lnSpc>
                <a:spcPts val="3339"/>
              </a:lnSpc>
              <a:buAutoNum type="arabicPeriod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Aharoni, R., Johnson, M., Firat, O. “Massively Multilingual Neural Machine Translation.” arXiv preprint arXiv:2010.11125,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1266</Words>
  <Application>Microsoft Office PowerPoint</Application>
  <PresentationFormat>Custom</PresentationFormat>
  <Paragraphs>215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Inter Bold</vt:lpstr>
      <vt:lpstr>Inter</vt:lpstr>
      <vt:lpstr>Inter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FinalResearchPresentationICICAT2025pptx.pptx</dc:title>
  <cp:lastModifiedBy>Keshav Agarwal</cp:lastModifiedBy>
  <cp:revision>2</cp:revision>
  <dcterms:created xsi:type="dcterms:W3CDTF">2006-08-16T00:00:00Z</dcterms:created>
  <dcterms:modified xsi:type="dcterms:W3CDTF">2026-05-06T08:28:08Z</dcterms:modified>
  <dc:identifier>DAHI3eknkng</dc:identifier>
</cp:coreProperties>
</file>